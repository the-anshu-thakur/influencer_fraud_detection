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8"/>
  </p:notesMasterIdLst>
  <p:sldIdLst>
    <p:sldId id="256" r:id="rId2"/>
    <p:sldId id="714" r:id="rId3"/>
    <p:sldId id="742" r:id="rId4"/>
    <p:sldId id="713" r:id="rId5"/>
    <p:sldId id="719" r:id="rId6"/>
    <p:sldId id="720" r:id="rId7"/>
    <p:sldId id="721" r:id="rId8"/>
    <p:sldId id="727" r:id="rId9"/>
    <p:sldId id="723" r:id="rId10"/>
    <p:sldId id="724" r:id="rId11"/>
    <p:sldId id="728" r:id="rId12"/>
    <p:sldId id="729" r:id="rId13"/>
    <p:sldId id="716" r:id="rId14"/>
    <p:sldId id="715" r:id="rId15"/>
    <p:sldId id="730" r:id="rId16"/>
    <p:sldId id="732" r:id="rId17"/>
    <p:sldId id="731" r:id="rId18"/>
    <p:sldId id="733" r:id="rId19"/>
    <p:sldId id="734" r:id="rId20"/>
    <p:sldId id="735" r:id="rId21"/>
    <p:sldId id="736" r:id="rId22"/>
    <p:sldId id="737" r:id="rId23"/>
    <p:sldId id="738" r:id="rId24"/>
    <p:sldId id="739" r:id="rId25"/>
    <p:sldId id="711" r:id="rId26"/>
    <p:sldId id="30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1A3E"/>
    <a:srgbClr val="333F50"/>
    <a:srgbClr val="8497B0"/>
    <a:srgbClr val="8FAADC"/>
    <a:srgbClr val="2F5597"/>
    <a:srgbClr val="626CC7"/>
    <a:srgbClr val="323B8D"/>
    <a:srgbClr val="21275D"/>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346" autoAdjust="0"/>
    <p:restoredTop sz="93426" autoAdjust="0"/>
  </p:normalViewPr>
  <p:slideViewPr>
    <p:cSldViewPr snapToGrid="0">
      <p:cViewPr varScale="1">
        <p:scale>
          <a:sx n="85" d="100"/>
          <a:sy n="85" d="100"/>
        </p:scale>
        <p:origin x="485" y="62"/>
      </p:cViewPr>
      <p:guideLst/>
    </p:cSldViewPr>
  </p:slideViewPr>
  <p:outlineViewPr>
    <p:cViewPr>
      <p:scale>
        <a:sx n="33" d="100"/>
        <a:sy n="33" d="100"/>
      </p:scale>
      <p:origin x="0" y="-3605"/>
    </p:cViewPr>
  </p:outlin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17-11-2025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dirty="0"/>
          </a:p>
        </p:txBody>
      </p:sp>
    </p:spTree>
    <p:extLst>
      <p:ext uri="{BB962C8B-B14F-4D97-AF65-F5344CB8AC3E}">
        <p14:creationId xmlns:p14="http://schemas.microsoft.com/office/powerpoint/2010/main" val="11816967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realpython.com/logistic-regression-python/#:~:text=The%20logistic%20regression%20function%20%F0%9D%91%9D(%F0%9D%90%B1"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andreaperlato.com/theorypost/ridge-and-lasso-regression/"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scikit-learn.org/stable/modules/model_evaluation.html#roc-metric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scikit-learn.org/stable/modules/generated/sklearn.linear_model.LogisticRegression.html#:~:text=%5Bsource%5D-,Probability%20estimates.,-The%20returned%20estimates" TargetMode="External"/><Relationship Id="rId2" Type="http://schemas.openxmlformats.org/officeDocument/2006/relationships/hyperlink" Target="https://towardsdatascience.com/understanding-the-roc-curve-and-auc-dd4f9a192ecb"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www.analyticsvidhya.com/blog/2020/06/auc-roc-curve-machine-learning/#:~:text=The%20ROC%20AUC%20score%20tells,and%20the%20Negative%20class%20point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scikit-learn.org/stable/modules/generated/sklearn.linear_model.LogisticRegression.html#:~:text=solver%7B%E2%80%98lbfgs%E2%80%99%2C%20%E2%80%98liblinear%E2%80%99%2C%20%E2%80%98newton%2Dcg%E2%80%99%2C%20%E2%80%98newton%2Dcholesky%E2%80%99%2C%20%E2%80%98sag%E2%80%99%2C%20%E2%80%98saga%E2%80%99%7D%2C%20default%3D%E2%80%99lbfgs%E2%80%99"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4400" dirty="0"/>
              <a:t>Influencer-Fraud Detection</a:t>
            </a:r>
            <a:endParaRPr lang="en-US" sz="4400" b="1" dirty="0">
              <a:latin typeface="Calibri" panose="020F0502020204030204" pitchFamily="34" charset="0"/>
            </a:endParaRPr>
          </a:p>
        </p:txBody>
      </p:sp>
      <p:sp>
        <p:nvSpPr>
          <p:cNvPr id="3" name="Rectangle 2">
            <a:extLst>
              <a:ext uri="{FF2B5EF4-FFF2-40B4-BE49-F238E27FC236}">
                <a16:creationId xmlns:a16="http://schemas.microsoft.com/office/drawing/2014/main" id="{72FC8B67-47CC-442A-4B51-33C4E9EA3BC1}"/>
              </a:ext>
            </a:extLst>
          </p:cNvPr>
          <p:cNvSpPr/>
          <p:nvPr/>
        </p:nvSpPr>
        <p:spPr>
          <a:xfrm>
            <a:off x="-12969" y="4594393"/>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ASHISH</a:t>
            </a:r>
          </a:p>
        </p:txBody>
      </p:sp>
      <p:sp>
        <p:nvSpPr>
          <p:cNvPr id="4" name="Rectangle 3">
            <a:extLst>
              <a:ext uri="{FF2B5EF4-FFF2-40B4-BE49-F238E27FC236}">
                <a16:creationId xmlns:a16="http://schemas.microsoft.com/office/drawing/2014/main" id="{58CEF503-2F02-0123-9E23-287EA0278D57}"/>
              </a:ext>
            </a:extLst>
          </p:cNvPr>
          <p:cNvSpPr/>
          <p:nvPr/>
        </p:nvSpPr>
        <p:spPr>
          <a:xfrm>
            <a:off x="-16210" y="5272086"/>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2025</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a:xfrm>
            <a:off x="421341" y="197224"/>
            <a:ext cx="11091777" cy="5875917"/>
          </a:xfrm>
        </p:spPr>
        <p:txBody>
          <a:bodyPr numCol="1">
            <a:noAutofit/>
          </a:bodyPr>
          <a:lstStyle/>
          <a:p>
            <a:r>
              <a:rPr lang="en-US" sz="3200" b="1" dirty="0">
                <a:latin typeface="+mn-lt"/>
              </a:rPr>
              <a:t>What</a:t>
            </a:r>
            <a:r>
              <a:rPr lang="en-US" sz="3200" dirty="0">
                <a:latin typeface="+mn-lt"/>
              </a:rPr>
              <a:t> : </a:t>
            </a:r>
          </a:p>
          <a:p>
            <a:pPr marL="0" indent="0">
              <a:buNone/>
            </a:pPr>
            <a:r>
              <a:rPr lang="en-US" sz="2600" dirty="0">
                <a:latin typeface="+mn-lt"/>
              </a:rPr>
              <a:t>Influencer-Fraud Detection is a system that analyzes influencer profiles (Instagram, TikTok, etc.) to detect fake followers, bot engagement, and abnormal growth patterns.</a:t>
            </a:r>
            <a:br>
              <a:rPr lang="en-US" sz="2600" dirty="0">
                <a:latin typeface="+mn-lt"/>
              </a:rPr>
            </a:br>
            <a:r>
              <a:rPr lang="en-US" sz="2600" dirty="0">
                <a:latin typeface="+mn-lt"/>
              </a:rPr>
              <a:t>It uses data such as follower count, likes, comments, engagement rates, and applies machine learning models to identify suspicious or fake activity. </a:t>
            </a:r>
          </a:p>
          <a:p>
            <a:r>
              <a:rPr lang="en-US" sz="3200" b="1" dirty="0">
                <a:latin typeface="+mn-lt"/>
              </a:rPr>
              <a:t>Why : </a:t>
            </a:r>
          </a:p>
          <a:p>
            <a:pPr marL="0" lvl="0" indent="0" eaLnBrk="0" fontAlgn="base" hangingPunct="0">
              <a:lnSpc>
                <a:spcPct val="100000"/>
              </a:lnSpc>
              <a:spcBef>
                <a:spcPct val="0"/>
              </a:spcBef>
              <a:spcAft>
                <a:spcPct val="0"/>
              </a:spcAft>
              <a:buFontTx/>
              <a:buChar char="•"/>
            </a:pPr>
            <a:r>
              <a:rPr lang="en-US" altLang="en-US" sz="2600" dirty="0">
                <a:latin typeface="+mn-lt"/>
              </a:rPr>
              <a:t>Many influencers inflate their metrics to get brand deals.</a:t>
            </a:r>
          </a:p>
          <a:p>
            <a:pPr marL="0" lvl="0" indent="0" eaLnBrk="0" fontAlgn="base" hangingPunct="0">
              <a:lnSpc>
                <a:spcPct val="100000"/>
              </a:lnSpc>
              <a:spcBef>
                <a:spcPct val="0"/>
              </a:spcBef>
              <a:spcAft>
                <a:spcPct val="0"/>
              </a:spcAft>
              <a:buFontTx/>
              <a:buChar char="•"/>
            </a:pPr>
            <a:r>
              <a:rPr lang="en-US" altLang="en-US" sz="2600" dirty="0">
                <a:latin typeface="+mn-lt"/>
              </a:rPr>
              <a:t>Brands lose money by partnering with fake or low-quality influencers.</a:t>
            </a:r>
          </a:p>
          <a:p>
            <a:r>
              <a:rPr lang="en-US" altLang="en-US" dirty="0"/>
              <a:t>Detecting fraud helps</a:t>
            </a:r>
            <a:r>
              <a:rPr lang="en-US" dirty="0">
                <a:latin typeface="+mn-lt"/>
              </a:rPr>
              <a:t>.</a:t>
            </a:r>
          </a:p>
          <a:p>
            <a:pPr lvl="1"/>
            <a:r>
              <a:rPr lang="en-US" altLang="en-US" sz="2800" dirty="0"/>
              <a:t>Protect marketing budgets</a:t>
            </a:r>
          </a:p>
          <a:p>
            <a:pPr lvl="1"/>
            <a:r>
              <a:rPr lang="en-US" altLang="en-US" sz="2800" dirty="0"/>
              <a:t>Improve campaign ROI</a:t>
            </a:r>
            <a:endParaRPr lang="en-US" sz="2800" dirty="0">
              <a:latin typeface="+mn-lt"/>
            </a:endParaRPr>
          </a:p>
          <a:p>
            <a:pPr marL="0" lvl="0" indent="0" eaLnBrk="0" fontAlgn="base" hangingPunct="0">
              <a:lnSpc>
                <a:spcPct val="100000"/>
              </a:lnSpc>
              <a:spcBef>
                <a:spcPct val="0"/>
              </a:spcBef>
              <a:spcAft>
                <a:spcPct val="0"/>
              </a:spcAft>
              <a:buFontTx/>
              <a:buChar char="•"/>
            </a:pPr>
            <a:r>
              <a:rPr lang="en-US" altLang="en-US" sz="2600" dirty="0">
                <a:latin typeface="+mn-lt"/>
              </a:rPr>
              <a:t>Filter genuine influencers from fraudulent ones</a:t>
            </a:r>
          </a:p>
          <a:p>
            <a:pPr marL="0" lvl="0" indent="0" eaLnBrk="0" fontAlgn="base" hangingPunct="0">
              <a:lnSpc>
                <a:spcPct val="100000"/>
              </a:lnSpc>
              <a:spcBef>
                <a:spcPct val="0"/>
              </a:spcBef>
              <a:spcAft>
                <a:spcPct val="0"/>
              </a:spcAft>
              <a:buFontTx/>
              <a:buChar char="•"/>
            </a:pPr>
            <a:r>
              <a:rPr lang="en-US" altLang="en-US" sz="2600" dirty="0">
                <a:latin typeface="+mn-lt"/>
              </a:rPr>
              <a:t>Ensures fair, transparent influencer marketing</a:t>
            </a:r>
          </a:p>
          <a:p>
            <a:endParaRPr lang="en-US" sz="2600" dirty="0">
              <a:latin typeface="+mn-lt"/>
            </a:endParaRPr>
          </a:p>
          <a:p>
            <a:endParaRPr lang="en-IN" sz="2600" b="1" dirty="0">
              <a:latin typeface="+mn-lt"/>
            </a:endParaRPr>
          </a:p>
        </p:txBody>
      </p:sp>
    </p:spTree>
    <p:extLst>
      <p:ext uri="{BB962C8B-B14F-4D97-AF65-F5344CB8AC3E}">
        <p14:creationId xmlns:p14="http://schemas.microsoft.com/office/powerpoint/2010/main" val="1953804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AAF34B-5073-17EB-2019-B1B594FA7DC7}"/>
              </a:ext>
            </a:extLst>
          </p:cNvPr>
          <p:cNvSpPr txBox="1"/>
          <p:nvPr/>
        </p:nvSpPr>
        <p:spPr>
          <a:xfrm>
            <a:off x="726141" y="321944"/>
            <a:ext cx="10739717" cy="6001643"/>
          </a:xfrm>
          <a:prstGeom prst="rect">
            <a:avLst/>
          </a:prstGeom>
          <a:noFill/>
        </p:spPr>
        <p:txBody>
          <a:bodyPr wrap="square">
            <a:spAutoFit/>
          </a:bodyPr>
          <a:lstStyle/>
          <a:p>
            <a:r>
              <a:rPr lang="en-IN" sz="2400" b="1" dirty="0"/>
              <a:t>How</a:t>
            </a:r>
            <a:r>
              <a:rPr lang="en-IN" sz="1800" b="1" dirty="0"/>
              <a:t> :</a:t>
            </a:r>
          </a:p>
          <a:p>
            <a:pPr>
              <a:buFont typeface="+mj-lt"/>
              <a:buAutoNum type="arabicPeriod"/>
            </a:pPr>
            <a:r>
              <a:rPr lang="en-US" sz="1800" b="1" dirty="0"/>
              <a:t>Data Collection:</a:t>
            </a:r>
            <a:br>
              <a:rPr lang="en-US" sz="1800" dirty="0"/>
            </a:br>
            <a:r>
              <a:rPr lang="en-US" sz="1800" dirty="0"/>
              <a:t>Use </a:t>
            </a:r>
            <a:r>
              <a:rPr lang="en-US" sz="1800" dirty="0" err="1"/>
              <a:t>SocialBlade</a:t>
            </a:r>
            <a:r>
              <a:rPr lang="en-US" sz="1800" dirty="0"/>
              <a:t> API or datasets to gather follower count, likes, comments, growth rate, engagement rate, etc.</a:t>
            </a:r>
          </a:p>
          <a:p>
            <a:pPr>
              <a:buFont typeface="+mj-lt"/>
              <a:buAutoNum type="arabicPeriod"/>
            </a:pPr>
            <a:r>
              <a:rPr lang="en-US" sz="1800" b="1" dirty="0"/>
              <a:t>Feature Engineering:</a:t>
            </a:r>
            <a:br>
              <a:rPr lang="en-US" sz="1800" dirty="0"/>
            </a:br>
            <a:r>
              <a:rPr lang="en-US" sz="1800" dirty="0"/>
              <a:t>Compute metrics like:</a:t>
            </a:r>
          </a:p>
          <a:p>
            <a:pPr marL="742950" lvl="1" indent="-285750">
              <a:buFont typeface="+mj-lt"/>
              <a:buAutoNum type="arabicPeriod"/>
            </a:pPr>
            <a:r>
              <a:rPr lang="en-US" sz="1800" dirty="0"/>
              <a:t>Engagement ratio</a:t>
            </a:r>
          </a:p>
          <a:p>
            <a:pPr marL="742950" lvl="1" indent="-285750">
              <a:buFont typeface="+mj-lt"/>
              <a:buAutoNum type="arabicPeriod"/>
            </a:pPr>
            <a:r>
              <a:rPr lang="en-US" sz="1800" dirty="0"/>
              <a:t>Like-to-follower ratio</a:t>
            </a:r>
          </a:p>
          <a:p>
            <a:pPr marL="742950" lvl="1" indent="-285750">
              <a:buFont typeface="+mj-lt"/>
              <a:buAutoNum type="arabicPeriod"/>
            </a:pPr>
            <a:r>
              <a:rPr lang="en-US" sz="1800" dirty="0"/>
              <a:t>Follower growth volatility</a:t>
            </a:r>
          </a:p>
          <a:p>
            <a:pPr marL="742950" lvl="1" indent="-285750">
              <a:buFont typeface="+mj-lt"/>
              <a:buAutoNum type="arabicPeriod"/>
            </a:pPr>
            <a:r>
              <a:rPr lang="en-US" sz="1800" dirty="0"/>
              <a:t>Comment/like authenticity patterns</a:t>
            </a:r>
          </a:p>
          <a:p>
            <a:pPr>
              <a:buFont typeface="+mj-lt"/>
              <a:buAutoNum type="arabicPeriod"/>
            </a:pPr>
            <a:r>
              <a:rPr lang="en-US" sz="1800" b="1" dirty="0"/>
              <a:t>Machine Learning Models:</a:t>
            </a:r>
            <a:br>
              <a:rPr lang="en-US" sz="1800" dirty="0"/>
            </a:br>
            <a:r>
              <a:rPr lang="en-US" sz="1800" dirty="0"/>
              <a:t>Apply unsupervised algorithms:</a:t>
            </a:r>
          </a:p>
          <a:p>
            <a:pPr marL="742950" lvl="1" indent="-285750">
              <a:buFont typeface="+mj-lt"/>
              <a:buAutoNum type="arabicPeriod"/>
            </a:pPr>
            <a:r>
              <a:rPr lang="en-US" sz="1800" b="1" dirty="0"/>
              <a:t>Isolation Forest</a:t>
            </a:r>
            <a:endParaRPr lang="en-US" sz="1800" dirty="0"/>
          </a:p>
          <a:p>
            <a:pPr marL="742950" lvl="1" indent="-285750">
              <a:buFont typeface="+mj-lt"/>
              <a:buAutoNum type="arabicPeriod"/>
            </a:pPr>
            <a:r>
              <a:rPr lang="en-US" sz="1800" b="1" dirty="0"/>
              <a:t>Local Outlier Factor (LOF)</a:t>
            </a:r>
            <a:br>
              <a:rPr lang="en-US" sz="1800" dirty="0"/>
            </a:br>
            <a:r>
              <a:rPr lang="en-US" sz="1800" dirty="0"/>
              <a:t>These models detect anomalies and suspicious patterns.</a:t>
            </a:r>
          </a:p>
          <a:p>
            <a:pPr>
              <a:buFont typeface="+mj-lt"/>
              <a:buAutoNum type="arabicPeriod"/>
            </a:pPr>
            <a:r>
              <a:rPr lang="en-US" sz="1800" b="1" dirty="0"/>
              <a:t>Fraud Score (0–100):</a:t>
            </a:r>
            <a:br>
              <a:rPr lang="en-US" sz="1800" dirty="0"/>
            </a:br>
            <a:r>
              <a:rPr lang="en-US" sz="1800" dirty="0"/>
              <a:t>Generate a fraud-risk score for each influencer.</a:t>
            </a:r>
          </a:p>
          <a:p>
            <a:pPr marL="742950" lvl="1" indent="-285750">
              <a:buFont typeface="+mj-lt"/>
              <a:buAutoNum type="arabicPeriod"/>
            </a:pPr>
            <a:r>
              <a:rPr lang="en-US" sz="1800" dirty="0"/>
              <a:t>0–30: Genuine</a:t>
            </a:r>
          </a:p>
          <a:p>
            <a:pPr marL="742950" lvl="1" indent="-285750">
              <a:buFont typeface="+mj-lt"/>
              <a:buAutoNum type="arabicPeriod"/>
            </a:pPr>
            <a:r>
              <a:rPr lang="en-US" sz="1800" dirty="0"/>
              <a:t>30–70: Moderate risk</a:t>
            </a:r>
          </a:p>
          <a:p>
            <a:pPr marL="742950" lvl="1" indent="-285750">
              <a:buFont typeface="+mj-lt"/>
              <a:buAutoNum type="arabicPeriod"/>
            </a:pPr>
            <a:r>
              <a:rPr lang="en-US" sz="1800" dirty="0"/>
              <a:t>70–100: High fraud risk</a:t>
            </a:r>
          </a:p>
          <a:p>
            <a:pPr>
              <a:buFont typeface="+mj-lt"/>
              <a:buAutoNum type="arabicPeriod"/>
            </a:pPr>
            <a:r>
              <a:rPr lang="en-US" sz="1800" b="1" dirty="0"/>
              <a:t>Output:</a:t>
            </a:r>
            <a:br>
              <a:rPr lang="en-US" sz="1800" dirty="0"/>
            </a:br>
            <a:r>
              <a:rPr lang="en-US" sz="1800" dirty="0"/>
              <a:t>Provide actions such as "verify audience", "manual review", "trusted influencer".</a:t>
            </a:r>
          </a:p>
        </p:txBody>
      </p:sp>
    </p:spTree>
    <p:extLst>
      <p:ext uri="{BB962C8B-B14F-4D97-AF65-F5344CB8AC3E}">
        <p14:creationId xmlns:p14="http://schemas.microsoft.com/office/powerpoint/2010/main" val="1918119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p:txBody>
          <a:bodyPr/>
          <a:lstStyle/>
          <a:p>
            <a:pPr algn="ctr"/>
            <a:r>
              <a:rPr lang="en-US" dirty="0"/>
              <a:t>Scenario</a:t>
            </a:r>
            <a:endParaRPr lang="en-IN" dirty="0"/>
          </a:p>
        </p:txBody>
      </p:sp>
      <p:sp>
        <p:nvSpPr>
          <p:cNvPr id="6" name="Content Placeholder 5">
            <a:extLst>
              <a:ext uri="{FF2B5EF4-FFF2-40B4-BE49-F238E27FC236}">
                <a16:creationId xmlns:a16="http://schemas.microsoft.com/office/drawing/2014/main" id="{2975E138-6175-E7BA-8B40-F7D4B95E8900}"/>
              </a:ext>
            </a:extLst>
          </p:cNvPr>
          <p:cNvSpPr>
            <a:spLocks noGrp="1"/>
          </p:cNvSpPr>
          <p:nvPr>
            <p:ph idx="1"/>
          </p:nvPr>
        </p:nvSpPr>
        <p:spPr/>
        <p:txBody>
          <a:bodyPr>
            <a:normAutofit fontScale="92500" lnSpcReduction="10000"/>
          </a:bodyPr>
          <a:lstStyle/>
          <a:p>
            <a:pPr marL="0" indent="0" fontAlgn="base">
              <a:buNone/>
            </a:pPr>
            <a:r>
              <a:rPr lang="en-US" dirty="0"/>
              <a:t>A popular social media platform for sharing photos and videos has received complaints about fake user accounts. These fake accounts are said to have left spam comments on genuine user posts. Management has asked us to create a machine-learning model that will help the platform distinguish real versions from fake accounts. The company would then use the model to identify fake accounts so they can be deleted from the platform.</a:t>
            </a:r>
          </a:p>
          <a:p>
            <a:endParaRPr lang="en-IN" dirty="0"/>
          </a:p>
        </p:txBody>
      </p:sp>
      <p:pic>
        <p:nvPicPr>
          <p:cNvPr id="1026" name="Picture 2">
            <a:extLst>
              <a:ext uri="{FF2B5EF4-FFF2-40B4-BE49-F238E27FC236}">
                <a16:creationId xmlns:a16="http://schemas.microsoft.com/office/drawing/2014/main" id="{6303CA96-65CF-D8D8-4790-156D53BE4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8625" y="1"/>
            <a:ext cx="6243376" cy="60579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44202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86632-4643-D4BE-4C78-C27C3428D69C}"/>
              </a:ext>
            </a:extLst>
          </p:cNvPr>
          <p:cNvSpPr>
            <a:spLocks noGrp="1"/>
          </p:cNvSpPr>
          <p:nvPr>
            <p:ph type="title"/>
          </p:nvPr>
        </p:nvSpPr>
        <p:spPr/>
        <p:txBody>
          <a:bodyPr>
            <a:normAutofit fontScale="90000"/>
          </a:bodyPr>
          <a:lstStyle/>
          <a:p>
            <a:pPr algn="ctr"/>
            <a:r>
              <a:rPr lang="en-IN" sz="6700" dirty="0"/>
              <a:t>GOAL</a:t>
            </a:r>
            <a:endParaRPr lang="en-IN" dirty="0"/>
          </a:p>
        </p:txBody>
      </p:sp>
      <p:sp>
        <p:nvSpPr>
          <p:cNvPr id="3" name="Content Placeholder 2">
            <a:extLst>
              <a:ext uri="{FF2B5EF4-FFF2-40B4-BE49-F238E27FC236}">
                <a16:creationId xmlns:a16="http://schemas.microsoft.com/office/drawing/2014/main" id="{5D52733C-E1B8-22BA-24A6-1FE2A34B91A1}"/>
              </a:ext>
            </a:extLst>
          </p:cNvPr>
          <p:cNvSpPr>
            <a:spLocks noGrp="1"/>
          </p:cNvSpPr>
          <p:nvPr>
            <p:ph idx="1"/>
          </p:nvPr>
        </p:nvSpPr>
        <p:spPr/>
        <p:txBody>
          <a:bodyPr/>
          <a:lstStyle/>
          <a:p>
            <a:pPr marL="0" indent="0" algn="just" fontAlgn="base">
              <a:buNone/>
            </a:pPr>
            <a:r>
              <a:rPr lang="en-US" dirty="0"/>
              <a:t>The goal here is to predict whether a user account is fake or not. A problem of this nature is called a binary classification problem (binary since we have two categories). We use int numbers to specify the two categories. In the 'fake' column, a 1 represents that the account in that row is fake, while a 0 indicates a real account.</a:t>
            </a:r>
          </a:p>
          <a:p>
            <a:pPr marL="0" indent="0">
              <a:buNone/>
            </a:pPr>
            <a:endParaRPr lang="en-IN" dirty="0"/>
          </a:p>
        </p:txBody>
      </p:sp>
    </p:spTree>
    <p:extLst>
      <p:ext uri="{BB962C8B-B14F-4D97-AF65-F5344CB8AC3E}">
        <p14:creationId xmlns:p14="http://schemas.microsoft.com/office/powerpoint/2010/main" val="1777446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E4D3B-6BD9-D4FB-9530-F748B82BD9C0}"/>
              </a:ext>
            </a:extLst>
          </p:cNvPr>
          <p:cNvSpPr>
            <a:spLocks noGrp="1"/>
          </p:cNvSpPr>
          <p:nvPr>
            <p:ph type="title"/>
          </p:nvPr>
        </p:nvSpPr>
        <p:spPr/>
        <p:txBody>
          <a:bodyPr>
            <a:noAutofit/>
          </a:bodyPr>
          <a:lstStyle/>
          <a:p>
            <a:pPr algn="ctr"/>
            <a:r>
              <a:rPr lang="en-IN" sz="6000" dirty="0"/>
              <a:t>GATHER DATA</a:t>
            </a:r>
          </a:p>
        </p:txBody>
      </p:sp>
      <p:sp>
        <p:nvSpPr>
          <p:cNvPr id="3" name="Content Placeholder 2">
            <a:extLst>
              <a:ext uri="{FF2B5EF4-FFF2-40B4-BE49-F238E27FC236}">
                <a16:creationId xmlns:a16="http://schemas.microsoft.com/office/drawing/2014/main" id="{9A48323C-EE03-9154-C286-5A84588C2778}"/>
              </a:ext>
            </a:extLst>
          </p:cNvPr>
          <p:cNvSpPr>
            <a:spLocks noGrp="1"/>
          </p:cNvSpPr>
          <p:nvPr>
            <p:ph idx="1"/>
          </p:nvPr>
        </p:nvSpPr>
        <p:spPr/>
        <p:txBody>
          <a:bodyPr/>
          <a:lstStyle/>
          <a:p>
            <a:pPr marL="0" indent="0" algn="just" fontAlgn="base">
              <a:buNone/>
            </a:pPr>
            <a:r>
              <a:rPr lang="en-US" dirty="0"/>
              <a:t>The data is in the social_media_train.csv file. The target vector is given by the 'fake' column. Here the modules that typically are needed for reading and exploration are imported and then read in pandas </a:t>
            </a:r>
            <a:r>
              <a:rPr lang="en-US" dirty="0" err="1"/>
              <a:t>DataFrame</a:t>
            </a:r>
            <a:r>
              <a:rPr lang="en-US" dirty="0"/>
              <a:t> </a:t>
            </a:r>
            <a:r>
              <a:rPr lang="en-US" dirty="0" err="1"/>
              <a:t>df_train</a:t>
            </a:r>
            <a:r>
              <a:rPr lang="en-US" dirty="0"/>
              <a:t>.</a:t>
            </a:r>
          </a:p>
        </p:txBody>
      </p:sp>
    </p:spTree>
    <p:extLst>
      <p:ext uri="{BB962C8B-B14F-4D97-AF65-F5344CB8AC3E}">
        <p14:creationId xmlns:p14="http://schemas.microsoft.com/office/powerpoint/2010/main" val="2360499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EF7C5-4DEB-9CC9-1845-424BE4F023AA}"/>
              </a:ext>
            </a:extLst>
          </p:cNvPr>
          <p:cNvSpPr>
            <a:spLocks noGrp="1"/>
          </p:cNvSpPr>
          <p:nvPr>
            <p:ph type="title"/>
          </p:nvPr>
        </p:nvSpPr>
        <p:spPr/>
        <p:txBody>
          <a:bodyPr>
            <a:noAutofit/>
          </a:bodyPr>
          <a:lstStyle/>
          <a:p>
            <a:pPr algn="ctr"/>
            <a:r>
              <a:rPr lang="en-IN" sz="6000" dirty="0"/>
              <a:t>Exploratory Data Analysis (EDA)</a:t>
            </a:r>
          </a:p>
        </p:txBody>
      </p:sp>
      <p:sp>
        <p:nvSpPr>
          <p:cNvPr id="3" name="Content Placeholder 2">
            <a:extLst>
              <a:ext uri="{FF2B5EF4-FFF2-40B4-BE49-F238E27FC236}">
                <a16:creationId xmlns:a16="http://schemas.microsoft.com/office/drawing/2014/main" id="{5FA9F0CA-F351-2DE0-2733-842BFDC2BA4A}"/>
              </a:ext>
            </a:extLst>
          </p:cNvPr>
          <p:cNvSpPr>
            <a:spLocks noGrp="1"/>
          </p:cNvSpPr>
          <p:nvPr>
            <p:ph idx="1"/>
          </p:nvPr>
        </p:nvSpPr>
        <p:spPr>
          <a:xfrm>
            <a:off x="678884" y="1675074"/>
            <a:ext cx="10834234" cy="4472807"/>
          </a:xfrm>
        </p:spPr>
        <p:txBody>
          <a:bodyPr numCol="2">
            <a:normAutofit/>
          </a:bodyPr>
          <a:lstStyle/>
          <a:p>
            <a:pPr marL="0" indent="0" fontAlgn="base">
              <a:buNone/>
            </a:pPr>
            <a:r>
              <a:rPr lang="en-US" dirty="0"/>
              <a:t>Understand Data</a:t>
            </a:r>
          </a:p>
          <a:p>
            <a:pPr marL="0" indent="0" fontAlgn="base">
              <a:buNone/>
            </a:pPr>
            <a:r>
              <a:rPr lang="en-US" dirty="0"/>
              <a:t>It is necessary to familiarize ourselves with the data at the beginning so that we know later what to look for while cleaning and preparing the data.</a:t>
            </a:r>
          </a:p>
          <a:p>
            <a:pPr marL="0" indent="0" fontAlgn="base">
              <a:buNone/>
            </a:pPr>
            <a:endParaRPr lang="en-US" dirty="0"/>
          </a:p>
          <a:p>
            <a:pPr marL="0" indent="0" fontAlgn="base">
              <a:buNone/>
            </a:pPr>
            <a:r>
              <a:rPr lang="en-US" dirty="0"/>
              <a:t>None</a:t>
            </a:r>
          </a:p>
          <a:p>
            <a:pPr marL="0" indent="0" fontAlgn="base">
              <a:buNone/>
            </a:pPr>
            <a:r>
              <a:rPr lang="en-US" dirty="0"/>
              <a:t>Each line of </a:t>
            </a:r>
            <a:r>
              <a:rPr lang="en-US" dirty="0" err="1"/>
              <a:t>df_train</a:t>
            </a:r>
            <a:r>
              <a:rPr lang="en-US" dirty="0"/>
              <a:t> represents a user or user account.</a:t>
            </a:r>
            <a:endParaRPr lang="en-IN" dirty="0"/>
          </a:p>
        </p:txBody>
      </p:sp>
      <p:pic>
        <p:nvPicPr>
          <p:cNvPr id="11" name="Picture 10">
            <a:extLst>
              <a:ext uri="{FF2B5EF4-FFF2-40B4-BE49-F238E27FC236}">
                <a16:creationId xmlns:a16="http://schemas.microsoft.com/office/drawing/2014/main" id="{BB3A2364-26E4-F8CD-FF50-4BB7E258FF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675075"/>
            <a:ext cx="5430827" cy="3616772"/>
          </a:xfrm>
          <a:prstGeom prst="rect">
            <a:avLst/>
          </a:prstGeom>
        </p:spPr>
      </p:pic>
    </p:spTree>
    <p:extLst>
      <p:ext uri="{BB962C8B-B14F-4D97-AF65-F5344CB8AC3E}">
        <p14:creationId xmlns:p14="http://schemas.microsoft.com/office/powerpoint/2010/main" val="569823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96D69-E092-21FB-4A32-047CA17BA40C}"/>
              </a:ext>
            </a:extLst>
          </p:cNvPr>
          <p:cNvSpPr>
            <a:spLocks noGrp="1"/>
          </p:cNvSpPr>
          <p:nvPr>
            <p:ph type="title"/>
          </p:nvPr>
        </p:nvSpPr>
        <p:spPr/>
        <p:txBody>
          <a:bodyPr>
            <a:normAutofit fontScale="90000"/>
          </a:bodyPr>
          <a:lstStyle/>
          <a:p>
            <a:r>
              <a:rPr lang="en-IN" sz="4400" dirty="0"/>
              <a:t>Exploratory Data Analysis (EDA)</a:t>
            </a:r>
            <a:endParaRPr lang="en-IN" sz="4000" dirty="0"/>
          </a:p>
        </p:txBody>
      </p:sp>
      <p:sp>
        <p:nvSpPr>
          <p:cNvPr id="3" name="Content Placeholder 2">
            <a:extLst>
              <a:ext uri="{FF2B5EF4-FFF2-40B4-BE49-F238E27FC236}">
                <a16:creationId xmlns:a16="http://schemas.microsoft.com/office/drawing/2014/main" id="{E921F7F7-EBEE-7E8C-F9B0-883107349EED}"/>
              </a:ext>
            </a:extLst>
          </p:cNvPr>
          <p:cNvSpPr>
            <a:spLocks noGrp="1"/>
          </p:cNvSpPr>
          <p:nvPr>
            <p:ph idx="1"/>
          </p:nvPr>
        </p:nvSpPr>
        <p:spPr>
          <a:xfrm>
            <a:off x="8385243" y="1789888"/>
            <a:ext cx="3952672" cy="3762403"/>
          </a:xfrm>
        </p:spPr>
        <p:txBody>
          <a:bodyPr>
            <a:noAutofit/>
          </a:bodyPr>
          <a:lstStyle/>
          <a:p>
            <a:pPr marL="0" indent="0" fontAlgn="base">
              <a:buNone/>
            </a:pPr>
            <a:r>
              <a:rPr lang="en-US" sz="5500" dirty="0">
                <a:solidFill>
                  <a:schemeClr val="bg1"/>
                </a:solidFill>
              </a:rPr>
              <a:t>TARGET</a:t>
            </a:r>
          </a:p>
          <a:p>
            <a:pPr marL="0" indent="0" fontAlgn="base">
              <a:buNone/>
            </a:pPr>
            <a:r>
              <a:rPr lang="en-US" sz="5500" dirty="0">
                <a:solidFill>
                  <a:schemeClr val="bg1"/>
                </a:solidFill>
              </a:rPr>
              <a:t>CATEGORY IS STRONGLY</a:t>
            </a:r>
          </a:p>
          <a:p>
            <a:pPr marL="0" indent="0" fontAlgn="base">
              <a:buNone/>
            </a:pPr>
            <a:r>
              <a:rPr lang="en-US" sz="5500" dirty="0">
                <a:solidFill>
                  <a:schemeClr val="bg1"/>
                </a:solidFill>
              </a:rPr>
              <a:t>BALANCED</a:t>
            </a:r>
            <a:endParaRPr lang="en-IN" sz="5500" dirty="0">
              <a:solidFill>
                <a:schemeClr val="bg1"/>
              </a:solidFill>
            </a:endParaRPr>
          </a:p>
        </p:txBody>
      </p:sp>
      <p:pic>
        <p:nvPicPr>
          <p:cNvPr id="4" name="Picture 3">
            <a:extLst>
              <a:ext uri="{FF2B5EF4-FFF2-40B4-BE49-F238E27FC236}">
                <a16:creationId xmlns:a16="http://schemas.microsoft.com/office/drawing/2014/main" id="{1760BA98-5C23-D566-1E2E-47356186B1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210" y="1216441"/>
            <a:ext cx="5415790" cy="4897855"/>
          </a:xfrm>
          <a:prstGeom prst="rect">
            <a:avLst/>
          </a:prstGeom>
        </p:spPr>
      </p:pic>
    </p:spTree>
    <p:extLst>
      <p:ext uri="{BB962C8B-B14F-4D97-AF65-F5344CB8AC3E}">
        <p14:creationId xmlns:p14="http://schemas.microsoft.com/office/powerpoint/2010/main" val="32803996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3C815-DB1A-7CDD-012D-8052113F9D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F19EAB-7B92-742D-5D7C-3D533A8FB0BD}"/>
              </a:ext>
            </a:extLst>
          </p:cNvPr>
          <p:cNvSpPr>
            <a:spLocks noGrp="1"/>
          </p:cNvSpPr>
          <p:nvPr>
            <p:ph type="title"/>
          </p:nvPr>
        </p:nvSpPr>
        <p:spPr/>
        <p:txBody>
          <a:bodyPr>
            <a:noAutofit/>
          </a:bodyPr>
          <a:lstStyle/>
          <a:p>
            <a:pPr algn="ctr"/>
            <a:r>
              <a:rPr lang="en-IN" sz="6000" dirty="0"/>
              <a:t>Exploratory Data Analysis (EDA)</a:t>
            </a:r>
          </a:p>
        </p:txBody>
      </p:sp>
      <p:sp>
        <p:nvSpPr>
          <p:cNvPr id="3" name="Content Placeholder 2">
            <a:extLst>
              <a:ext uri="{FF2B5EF4-FFF2-40B4-BE49-F238E27FC236}">
                <a16:creationId xmlns:a16="http://schemas.microsoft.com/office/drawing/2014/main" id="{AE433531-6FC1-38AF-5D71-2DECDB7BEE04}"/>
              </a:ext>
            </a:extLst>
          </p:cNvPr>
          <p:cNvSpPr>
            <a:spLocks noGrp="1"/>
          </p:cNvSpPr>
          <p:nvPr>
            <p:ph idx="1"/>
          </p:nvPr>
        </p:nvSpPr>
        <p:spPr/>
        <p:txBody>
          <a:bodyPr>
            <a:normAutofit/>
          </a:bodyPr>
          <a:lstStyle/>
          <a:p>
            <a:pPr marL="0" indent="0" fontAlgn="base">
              <a:buNone/>
            </a:pPr>
            <a:r>
              <a:rPr lang="en-US" dirty="0"/>
              <a:t>Just like linear regression, logistic regression makes a number of assumptions. For continuous data, the following are relevant:</a:t>
            </a:r>
          </a:p>
          <a:p>
            <a:pPr fontAlgn="base"/>
            <a:r>
              <a:rPr lang="en-US" dirty="0"/>
              <a:t>The features should not be strongly correlated with each other.</a:t>
            </a:r>
          </a:p>
          <a:p>
            <a:pPr fontAlgn="base"/>
            <a:r>
              <a:rPr lang="en-US" dirty="0"/>
              <a:t>There should be a linear relationship between the features and the sigmoid transformed probabilities.</a:t>
            </a:r>
          </a:p>
          <a:p>
            <a:pPr marL="0" indent="0" fontAlgn="base">
              <a:buNone/>
            </a:pPr>
            <a:r>
              <a:rPr lang="en-US" dirty="0"/>
              <a:t>As can be seen all correlation values between features relatively close to 0.</a:t>
            </a:r>
          </a:p>
        </p:txBody>
      </p:sp>
    </p:spTree>
    <p:extLst>
      <p:ext uri="{BB962C8B-B14F-4D97-AF65-F5344CB8AC3E}">
        <p14:creationId xmlns:p14="http://schemas.microsoft.com/office/powerpoint/2010/main" val="2578656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8190F-7A96-E3A9-A770-ACDFDB1790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8AB22-2C7D-7DA9-03FF-1BF776311415}"/>
              </a:ext>
            </a:extLst>
          </p:cNvPr>
          <p:cNvSpPr>
            <a:spLocks noGrp="1"/>
          </p:cNvSpPr>
          <p:nvPr>
            <p:ph type="title"/>
          </p:nvPr>
        </p:nvSpPr>
        <p:spPr/>
        <p:txBody>
          <a:bodyPr>
            <a:noAutofit/>
          </a:bodyPr>
          <a:lstStyle/>
          <a:p>
            <a:pPr algn="ctr"/>
            <a:r>
              <a:rPr lang="en-IN" sz="6000" dirty="0"/>
              <a:t>Exploratory Data Analysis (EDA)</a:t>
            </a:r>
          </a:p>
        </p:txBody>
      </p:sp>
      <p:sp>
        <p:nvSpPr>
          <p:cNvPr id="3" name="Content Placeholder 2">
            <a:extLst>
              <a:ext uri="{FF2B5EF4-FFF2-40B4-BE49-F238E27FC236}">
                <a16:creationId xmlns:a16="http://schemas.microsoft.com/office/drawing/2014/main" id="{06FCB9EE-2FC5-4676-C14D-8A89FCE6D22C}"/>
              </a:ext>
            </a:extLst>
          </p:cNvPr>
          <p:cNvSpPr>
            <a:spLocks noGrp="1"/>
          </p:cNvSpPr>
          <p:nvPr>
            <p:ph idx="1"/>
          </p:nvPr>
        </p:nvSpPr>
        <p:spPr/>
        <p:txBody>
          <a:bodyPr>
            <a:normAutofit fontScale="92500" lnSpcReduction="20000"/>
          </a:bodyPr>
          <a:lstStyle/>
          <a:p>
            <a:pPr marL="0" indent="0" algn="just" fontAlgn="base">
              <a:buNone/>
            </a:pPr>
            <a:r>
              <a:rPr lang="en-US" dirty="0"/>
              <a:t>Very first finding:</a:t>
            </a:r>
          </a:p>
          <a:p>
            <a:pPr algn="just" fontAlgn="base"/>
            <a:r>
              <a:rPr lang="en-US" dirty="0"/>
              <a:t>As can be seen from pair plots above, fake accounts are more spread around the mean for </a:t>
            </a:r>
            <a:r>
              <a:rPr lang="en-US" dirty="0" err="1"/>
              <a:t>ratio_numlen_username</a:t>
            </a:r>
            <a:r>
              <a:rPr lang="en-US" dirty="0"/>
              <a:t>, ratio of numeric characters in the account username to their length. Values of real accounts, in this case, are strongly clustered around their mean.</a:t>
            </a:r>
          </a:p>
          <a:p>
            <a:pPr algn="just" fontAlgn="base"/>
            <a:r>
              <a:rPr lang="en-US" dirty="0"/>
              <a:t>Most fake </a:t>
            </a:r>
            <a:r>
              <a:rPr lang="en-US" dirty="0" err="1"/>
              <a:t>accounnts</a:t>
            </a:r>
            <a:r>
              <a:rPr lang="en-US" dirty="0"/>
              <a:t> have less words of descriptions (</a:t>
            </a:r>
            <a:r>
              <a:rPr lang="en-US" dirty="0" err="1"/>
              <a:t>len_desc</a:t>
            </a:r>
            <a:r>
              <a:rPr lang="en-US" dirty="0"/>
              <a:t>) in their bio, as the average of description words for fake accounts is less than real accounts.</a:t>
            </a:r>
          </a:p>
          <a:p>
            <a:pPr algn="just" fontAlgn="base"/>
            <a:r>
              <a:rPr lang="en-US" dirty="0" err="1"/>
              <a:t>ratio_numlen_fullname</a:t>
            </a:r>
            <a:r>
              <a:rPr lang="en-US" dirty="0"/>
              <a:t> and </a:t>
            </a:r>
            <a:r>
              <a:rPr lang="en-US" dirty="0" err="1"/>
              <a:t>ratio_numlen_username</a:t>
            </a:r>
            <a:r>
              <a:rPr lang="en-US" dirty="0"/>
              <a:t> are correlated with </a:t>
            </a:r>
            <a:r>
              <a:rPr lang="en-US" dirty="0" err="1"/>
              <a:t>eachother</a:t>
            </a:r>
            <a:r>
              <a:rPr lang="en-US" dirty="0"/>
              <a:t>. Correlation matrix </a:t>
            </a:r>
            <a:r>
              <a:rPr lang="en-US" dirty="0" err="1"/>
              <a:t>showes</a:t>
            </a:r>
            <a:r>
              <a:rPr lang="en-US" dirty="0"/>
              <a:t> a value of +0.4085 for this correlation.</a:t>
            </a:r>
          </a:p>
          <a:p>
            <a:pPr marL="0" indent="0" algn="just" fontAlgn="base">
              <a:buNone/>
            </a:pPr>
            <a:r>
              <a:rPr lang="en-US" dirty="0"/>
              <a:t>Average number of posts and followers of fake accounts are close to zero.</a:t>
            </a:r>
          </a:p>
          <a:p>
            <a:pPr marL="0" indent="0" algn="just" fontAlgn="base">
              <a:buNone/>
            </a:pPr>
            <a:r>
              <a:rPr lang="en-US" dirty="0"/>
              <a:t>Lets do some investigations of categorical data:</a:t>
            </a:r>
            <a:endParaRPr lang="en-IN" dirty="0"/>
          </a:p>
        </p:txBody>
      </p:sp>
    </p:spTree>
    <p:extLst>
      <p:ext uri="{BB962C8B-B14F-4D97-AF65-F5344CB8AC3E}">
        <p14:creationId xmlns:p14="http://schemas.microsoft.com/office/powerpoint/2010/main" val="2593175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007C9-C053-2365-6D05-2C5DEB8AA34E}"/>
              </a:ext>
            </a:extLst>
          </p:cNvPr>
          <p:cNvSpPr>
            <a:spLocks noGrp="1"/>
          </p:cNvSpPr>
          <p:nvPr>
            <p:ph type="title"/>
          </p:nvPr>
        </p:nvSpPr>
        <p:spPr/>
        <p:txBody>
          <a:bodyPr>
            <a:noAutofit/>
          </a:bodyPr>
          <a:lstStyle/>
          <a:p>
            <a:pPr algn="ctr"/>
            <a:r>
              <a:rPr lang="en-US" sz="6000" dirty="0"/>
              <a:t>Logistic Regression</a:t>
            </a:r>
            <a:endParaRPr lang="en-IN" sz="6000" dirty="0"/>
          </a:p>
        </p:txBody>
      </p:sp>
      <p:sp>
        <p:nvSpPr>
          <p:cNvPr id="3" name="Content Placeholder 2">
            <a:extLst>
              <a:ext uri="{FF2B5EF4-FFF2-40B4-BE49-F238E27FC236}">
                <a16:creationId xmlns:a16="http://schemas.microsoft.com/office/drawing/2014/main" id="{F45B5740-AE34-2BD6-FFA4-35F70BDDFE39}"/>
              </a:ext>
            </a:extLst>
          </p:cNvPr>
          <p:cNvSpPr>
            <a:spLocks noGrp="1"/>
          </p:cNvSpPr>
          <p:nvPr>
            <p:ph idx="1"/>
          </p:nvPr>
        </p:nvSpPr>
        <p:spPr/>
        <p:txBody>
          <a:bodyPr>
            <a:normAutofit fontScale="92500" lnSpcReduction="20000"/>
          </a:bodyPr>
          <a:lstStyle/>
          <a:p>
            <a:pPr marL="0" indent="0" fontAlgn="base">
              <a:buNone/>
            </a:pPr>
            <a:r>
              <a:rPr lang="en-US" dirty="0"/>
              <a:t>In this notebook, we first focus on Logistic Regression which is a known algorithm for classification tasks. Please see </a:t>
            </a:r>
            <a:r>
              <a:rPr lang="en-US" u="sng" dirty="0">
                <a:hlinkClick r:id="rId2"/>
              </a:rPr>
              <a:t>this article</a:t>
            </a:r>
            <a:r>
              <a:rPr lang="en-US" dirty="0"/>
              <a:t> for more details about logistic </a:t>
            </a:r>
            <a:r>
              <a:rPr lang="en-US" dirty="0" err="1"/>
              <a:t>regresion</a:t>
            </a:r>
            <a:r>
              <a:rPr lang="en-US" dirty="0"/>
              <a:t>.</a:t>
            </a:r>
          </a:p>
          <a:p>
            <a:pPr marL="0" indent="0" fontAlgn="base">
              <a:buNone/>
            </a:pPr>
            <a:endParaRPr lang="en-US" dirty="0"/>
          </a:p>
          <a:p>
            <a:pPr marL="0" indent="0" fontAlgn="base">
              <a:buNone/>
            </a:pPr>
            <a:r>
              <a:rPr lang="en-US" dirty="0"/>
              <a:t>From regularization, we know that it can be helpful if a linear regression tries to minimize the slope values. For example, overfitting can be avoided. In contrast to the logistic regression without regularization, the features must be standardized in the model with regularization. This is due to penalty parameters (l2 by default) in logistic regression: like linear regression, logistic regression with regularization makes the prediction dependent on the scaling of the features, where at 𝐿1 (Lasso) and 𝐿2 (Ridge) large coefficients are penalized more heavily. So, in order for the coefficients to be penalized equally, we need to standardize the coefficients.</a:t>
            </a:r>
          </a:p>
        </p:txBody>
      </p:sp>
    </p:spTree>
    <p:extLst>
      <p:ext uri="{BB962C8B-B14F-4D97-AF65-F5344CB8AC3E}">
        <p14:creationId xmlns:p14="http://schemas.microsoft.com/office/powerpoint/2010/main" val="667714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4BA13-F02F-8409-C13B-5D44BB1CF72B}"/>
              </a:ext>
            </a:extLst>
          </p:cNvPr>
          <p:cNvSpPr>
            <a:spLocks noGrp="1"/>
          </p:cNvSpPr>
          <p:nvPr>
            <p:ph type="title"/>
          </p:nvPr>
        </p:nvSpPr>
        <p:spPr/>
        <p:txBody>
          <a:bodyPr>
            <a:normAutofit fontScale="90000"/>
          </a:bodyPr>
          <a:lstStyle/>
          <a:p>
            <a:pPr algn="ctr"/>
            <a:r>
              <a:rPr lang="en-US" sz="4000" dirty="0"/>
              <a:t>Logistic Regression With And Without Regularization</a:t>
            </a:r>
            <a:endParaRPr lang="en-IN" sz="4000" dirty="0"/>
          </a:p>
        </p:txBody>
      </p:sp>
      <p:sp>
        <p:nvSpPr>
          <p:cNvPr id="3" name="Content Placeholder 2">
            <a:extLst>
              <a:ext uri="{FF2B5EF4-FFF2-40B4-BE49-F238E27FC236}">
                <a16:creationId xmlns:a16="http://schemas.microsoft.com/office/drawing/2014/main" id="{7F20560C-C0B4-1156-2D00-B6D7C5D14890}"/>
              </a:ext>
            </a:extLst>
          </p:cNvPr>
          <p:cNvSpPr>
            <a:spLocks noGrp="1"/>
          </p:cNvSpPr>
          <p:nvPr>
            <p:ph idx="1"/>
          </p:nvPr>
        </p:nvSpPr>
        <p:spPr/>
        <p:txBody>
          <a:bodyPr>
            <a:normAutofit fontScale="92500" lnSpcReduction="10000"/>
          </a:bodyPr>
          <a:lstStyle/>
          <a:p>
            <a:pPr marL="0" indent="0" algn="just" fontAlgn="base">
              <a:buNone/>
            </a:pPr>
            <a:r>
              <a:rPr lang="en-US" dirty="0"/>
              <a:t>As with linear regression and its Ridge and Lasso versions, logistic regression also allows for regularization. Please see </a:t>
            </a:r>
            <a:r>
              <a:rPr lang="en-US" u="sng" dirty="0">
                <a:hlinkClick r:id="rId2"/>
              </a:rPr>
              <a:t>this article</a:t>
            </a:r>
            <a:r>
              <a:rPr lang="en-US" dirty="0"/>
              <a:t> for more details about </a:t>
            </a:r>
            <a:r>
              <a:rPr lang="en-US" dirty="0" err="1"/>
              <a:t>regularisations</a:t>
            </a:r>
            <a:r>
              <a:rPr lang="en-US" dirty="0"/>
              <a:t>.</a:t>
            </a:r>
          </a:p>
          <a:p>
            <a:pPr marL="0" indent="0" algn="just" fontAlgn="base">
              <a:buNone/>
            </a:pPr>
            <a:r>
              <a:rPr lang="en-US" dirty="0"/>
              <a:t>we can now set up a logistic regression model By default, </a:t>
            </a:r>
            <a:r>
              <a:rPr lang="en-US" dirty="0" err="1"/>
              <a:t>sklearn's</a:t>
            </a:r>
            <a:r>
              <a:rPr lang="en-US" dirty="0"/>
              <a:t> logistic regression algorithm already uses regularization with the regularization parameter C=1.0. If we assign an extremely large value to C, such as a 1 followed by 42 zeros (1e42), no regularization is performed. That's what we want to achieve here first.</a:t>
            </a:r>
          </a:p>
          <a:p>
            <a:pPr marL="0" indent="0" algn="just" fontAlgn="base">
              <a:buNone/>
            </a:pPr>
            <a:r>
              <a:rPr lang="en-US" dirty="0"/>
              <a:t>The algorithm needs many attempts to solve the problem. The default 100 iterations are not enough. Therefore, we should also assign a relatively large number to </a:t>
            </a:r>
            <a:r>
              <a:rPr lang="en-US" dirty="0" err="1"/>
              <a:t>max_iter</a:t>
            </a:r>
            <a:r>
              <a:rPr lang="en-US" dirty="0"/>
              <a:t>. This parameter sets the maximum number of iterations the solvers need to converge. 10000 should suffice here.</a:t>
            </a:r>
          </a:p>
        </p:txBody>
      </p:sp>
    </p:spTree>
    <p:extLst>
      <p:ext uri="{BB962C8B-B14F-4D97-AF65-F5344CB8AC3E}">
        <p14:creationId xmlns:p14="http://schemas.microsoft.com/office/powerpoint/2010/main" val="3711472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96680-4E5A-D1B6-8F59-79C773960B87}"/>
              </a:ext>
            </a:extLst>
          </p:cNvPr>
          <p:cNvSpPr>
            <a:spLocks noGrp="1"/>
          </p:cNvSpPr>
          <p:nvPr>
            <p:ph type="title"/>
          </p:nvPr>
        </p:nvSpPr>
        <p:spPr>
          <a:xfrm>
            <a:off x="678882" y="511985"/>
            <a:ext cx="10834234" cy="612775"/>
          </a:xfrm>
        </p:spPr>
        <p:txBody>
          <a:bodyPr>
            <a:normAutofit/>
          </a:bodyPr>
          <a:lstStyle/>
          <a:p>
            <a:pPr algn="ctr"/>
            <a:r>
              <a:rPr lang="en-US" sz="4400" dirty="0"/>
              <a:t>Model Performance Evaluation</a:t>
            </a:r>
            <a:endParaRPr lang="en-IN" sz="4400" dirty="0"/>
          </a:p>
        </p:txBody>
      </p:sp>
      <p:sp>
        <p:nvSpPr>
          <p:cNvPr id="10" name="Content Placeholder 9">
            <a:extLst>
              <a:ext uri="{FF2B5EF4-FFF2-40B4-BE49-F238E27FC236}">
                <a16:creationId xmlns:a16="http://schemas.microsoft.com/office/drawing/2014/main" id="{F38CF6A9-224E-5C6A-672A-C44FBD4A118D}"/>
              </a:ext>
            </a:extLst>
          </p:cNvPr>
          <p:cNvSpPr>
            <a:spLocks noGrp="1"/>
          </p:cNvSpPr>
          <p:nvPr>
            <p:ph idx="1"/>
          </p:nvPr>
        </p:nvSpPr>
        <p:spPr>
          <a:xfrm>
            <a:off x="678883" y="1429968"/>
            <a:ext cx="10834234" cy="1653701"/>
          </a:xfrm>
        </p:spPr>
        <p:txBody>
          <a:bodyPr>
            <a:normAutofit lnSpcReduction="10000"/>
          </a:bodyPr>
          <a:lstStyle/>
          <a:p>
            <a:pPr marL="0" indent="0" fontAlgn="base">
              <a:buNone/>
            </a:pPr>
            <a:r>
              <a:rPr lang="en-US" dirty="0"/>
              <a:t>We use test data from social_media_test.csv for initial classification performance:</a:t>
            </a:r>
          </a:p>
          <a:p>
            <a:pPr marL="0" indent="0">
              <a:buNone/>
            </a:pPr>
            <a:br>
              <a:rPr lang="en-US" dirty="0"/>
            </a:br>
            <a:endParaRPr lang="en-IN" dirty="0"/>
          </a:p>
        </p:txBody>
      </p:sp>
      <p:graphicFrame>
        <p:nvGraphicFramePr>
          <p:cNvPr id="9" name="Table 8">
            <a:extLst>
              <a:ext uri="{FF2B5EF4-FFF2-40B4-BE49-F238E27FC236}">
                <a16:creationId xmlns:a16="http://schemas.microsoft.com/office/drawing/2014/main" id="{8FC8F0ED-8EFB-4315-9F52-2F62A6B17398}"/>
              </a:ext>
            </a:extLst>
          </p:cNvPr>
          <p:cNvGraphicFramePr>
            <a:graphicFrameLocks noGrp="1"/>
          </p:cNvGraphicFramePr>
          <p:nvPr>
            <p:extLst>
              <p:ext uri="{D42A27DB-BD31-4B8C-83A1-F6EECF244321}">
                <p14:modId xmlns:p14="http://schemas.microsoft.com/office/powerpoint/2010/main" val="2996966357"/>
              </p:ext>
            </p:extLst>
          </p:nvPr>
        </p:nvGraphicFramePr>
        <p:xfrm>
          <a:off x="288585" y="2116611"/>
          <a:ext cx="11614830" cy="2977476"/>
        </p:xfrm>
        <a:graphic>
          <a:graphicData uri="http://schemas.openxmlformats.org/drawingml/2006/table">
            <a:tbl>
              <a:tblPr/>
              <a:tblGrid>
                <a:gridCol w="774322">
                  <a:extLst>
                    <a:ext uri="{9D8B030D-6E8A-4147-A177-3AD203B41FA5}">
                      <a16:colId xmlns:a16="http://schemas.microsoft.com/office/drawing/2014/main" val="1016563342"/>
                    </a:ext>
                  </a:extLst>
                </a:gridCol>
                <a:gridCol w="774322">
                  <a:extLst>
                    <a:ext uri="{9D8B030D-6E8A-4147-A177-3AD203B41FA5}">
                      <a16:colId xmlns:a16="http://schemas.microsoft.com/office/drawing/2014/main" val="1540383774"/>
                    </a:ext>
                  </a:extLst>
                </a:gridCol>
                <a:gridCol w="774322">
                  <a:extLst>
                    <a:ext uri="{9D8B030D-6E8A-4147-A177-3AD203B41FA5}">
                      <a16:colId xmlns:a16="http://schemas.microsoft.com/office/drawing/2014/main" val="3854070924"/>
                    </a:ext>
                  </a:extLst>
                </a:gridCol>
                <a:gridCol w="774322">
                  <a:extLst>
                    <a:ext uri="{9D8B030D-6E8A-4147-A177-3AD203B41FA5}">
                      <a16:colId xmlns:a16="http://schemas.microsoft.com/office/drawing/2014/main" val="57614471"/>
                    </a:ext>
                  </a:extLst>
                </a:gridCol>
                <a:gridCol w="774322">
                  <a:extLst>
                    <a:ext uri="{9D8B030D-6E8A-4147-A177-3AD203B41FA5}">
                      <a16:colId xmlns:a16="http://schemas.microsoft.com/office/drawing/2014/main" val="436834504"/>
                    </a:ext>
                  </a:extLst>
                </a:gridCol>
                <a:gridCol w="774322">
                  <a:extLst>
                    <a:ext uri="{9D8B030D-6E8A-4147-A177-3AD203B41FA5}">
                      <a16:colId xmlns:a16="http://schemas.microsoft.com/office/drawing/2014/main" val="880829860"/>
                    </a:ext>
                  </a:extLst>
                </a:gridCol>
                <a:gridCol w="774322">
                  <a:extLst>
                    <a:ext uri="{9D8B030D-6E8A-4147-A177-3AD203B41FA5}">
                      <a16:colId xmlns:a16="http://schemas.microsoft.com/office/drawing/2014/main" val="2106066525"/>
                    </a:ext>
                  </a:extLst>
                </a:gridCol>
                <a:gridCol w="774322">
                  <a:extLst>
                    <a:ext uri="{9D8B030D-6E8A-4147-A177-3AD203B41FA5}">
                      <a16:colId xmlns:a16="http://schemas.microsoft.com/office/drawing/2014/main" val="2984011091"/>
                    </a:ext>
                  </a:extLst>
                </a:gridCol>
                <a:gridCol w="774322">
                  <a:extLst>
                    <a:ext uri="{9D8B030D-6E8A-4147-A177-3AD203B41FA5}">
                      <a16:colId xmlns:a16="http://schemas.microsoft.com/office/drawing/2014/main" val="20907398"/>
                    </a:ext>
                  </a:extLst>
                </a:gridCol>
                <a:gridCol w="774322">
                  <a:extLst>
                    <a:ext uri="{9D8B030D-6E8A-4147-A177-3AD203B41FA5}">
                      <a16:colId xmlns:a16="http://schemas.microsoft.com/office/drawing/2014/main" val="595087440"/>
                    </a:ext>
                  </a:extLst>
                </a:gridCol>
                <a:gridCol w="774322">
                  <a:extLst>
                    <a:ext uri="{9D8B030D-6E8A-4147-A177-3AD203B41FA5}">
                      <a16:colId xmlns:a16="http://schemas.microsoft.com/office/drawing/2014/main" val="2050970798"/>
                    </a:ext>
                  </a:extLst>
                </a:gridCol>
                <a:gridCol w="774322">
                  <a:extLst>
                    <a:ext uri="{9D8B030D-6E8A-4147-A177-3AD203B41FA5}">
                      <a16:colId xmlns:a16="http://schemas.microsoft.com/office/drawing/2014/main" val="2524750669"/>
                    </a:ext>
                  </a:extLst>
                </a:gridCol>
                <a:gridCol w="774322">
                  <a:extLst>
                    <a:ext uri="{9D8B030D-6E8A-4147-A177-3AD203B41FA5}">
                      <a16:colId xmlns:a16="http://schemas.microsoft.com/office/drawing/2014/main" val="3061858422"/>
                    </a:ext>
                  </a:extLst>
                </a:gridCol>
                <a:gridCol w="774322">
                  <a:extLst>
                    <a:ext uri="{9D8B030D-6E8A-4147-A177-3AD203B41FA5}">
                      <a16:colId xmlns:a16="http://schemas.microsoft.com/office/drawing/2014/main" val="1258898742"/>
                    </a:ext>
                  </a:extLst>
                </a:gridCol>
                <a:gridCol w="774322">
                  <a:extLst>
                    <a:ext uri="{9D8B030D-6E8A-4147-A177-3AD203B41FA5}">
                      <a16:colId xmlns:a16="http://schemas.microsoft.com/office/drawing/2014/main" val="811931763"/>
                    </a:ext>
                  </a:extLst>
                </a:gridCol>
              </a:tblGrid>
              <a:tr h="911719">
                <a:tc>
                  <a:txBody>
                    <a:bodyPr/>
                    <a:lstStyle/>
                    <a:p>
                      <a:pPr fontAlgn="t">
                        <a:buNone/>
                      </a:pPr>
                      <a:endParaRPr lang="en-IN" sz="1500">
                        <a:effectLst/>
                      </a:endParaRP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fake</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profile_pic</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ratio_numlen_username</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dirty="0" err="1">
                          <a:effectLst/>
                        </a:rPr>
                        <a:t>len_fullname</a:t>
                      </a:r>
                      <a:endParaRPr lang="en-IN" sz="1500" dirty="0">
                        <a:effectLst/>
                      </a:endParaRP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ratio_numlen_fullname</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len_desc</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extern_url</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private</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num_posts</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dirty="0" err="1">
                          <a:effectLst/>
                        </a:rPr>
                        <a:t>num_followers</a:t>
                      </a:r>
                      <a:endParaRPr lang="en-IN" sz="1500" dirty="0">
                        <a:effectLst/>
                      </a:endParaRP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num_following</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500">
                          <a:effectLst/>
                        </a:rPr>
                        <a:t>sim_name_username_Full match</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pt-BR" sz="1500">
                          <a:effectLst/>
                        </a:rPr>
                        <a:t>sim_name_username_No match</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sim_name_username_Partial match</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86358730"/>
                  </a:ext>
                </a:extLst>
              </a:tr>
              <a:tr h="228460">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0.33</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0.33</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30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35</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488.00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604</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2426429"/>
                  </a:ext>
                </a:extLst>
              </a:tr>
              <a:tr h="228460">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5</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64</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3</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35.00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6</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0408396"/>
                  </a:ext>
                </a:extLst>
              </a:tr>
              <a:tr h="228460">
                <a:tc>
                  <a:txBody>
                    <a:bodyPr/>
                    <a:lstStyle/>
                    <a:p>
                      <a:pPr fontAlgn="t">
                        <a:buNone/>
                      </a:pPr>
                      <a:r>
                        <a:rPr lang="en-IN" sz="1500">
                          <a:effectLst/>
                        </a:rPr>
                        <a:t>2</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2</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82</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319</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328.00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668</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9309328"/>
                  </a:ext>
                </a:extLst>
              </a:tr>
              <a:tr h="399275">
                <a:tc>
                  <a:txBody>
                    <a:bodyPr/>
                    <a:lstStyle/>
                    <a:p>
                      <a:pPr fontAlgn="t">
                        <a:buNone/>
                      </a:pPr>
                      <a:r>
                        <a:rPr lang="en-IN" sz="1500">
                          <a:effectLst/>
                        </a:rPr>
                        <a:t>3</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143</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dirty="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273</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14890.00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7369</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3637815"/>
                  </a:ext>
                </a:extLst>
              </a:tr>
              <a:tr h="228460">
                <a:tc>
                  <a:txBody>
                    <a:bodyPr/>
                    <a:lstStyle/>
                    <a:p>
                      <a:pPr fontAlgn="t">
                        <a:buNone/>
                      </a:pPr>
                      <a:r>
                        <a:rPr lang="en-IN" sz="1500">
                          <a:effectLst/>
                        </a:rPr>
                        <a:t>4</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0.50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76</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6</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225.00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356</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a:effectLst/>
                        </a:rPr>
                        <a:t>1</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500" dirty="0">
                          <a:effectLst/>
                        </a:rPr>
                        <a:t>0</a:t>
                      </a:r>
                    </a:p>
                  </a:txBody>
                  <a:tcPr marL="77147" marR="77147" marT="38573" marB="3857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0952700"/>
                  </a:ext>
                </a:extLst>
              </a:tr>
            </a:tbl>
          </a:graphicData>
        </a:graphic>
      </p:graphicFrame>
      <p:sp>
        <p:nvSpPr>
          <p:cNvPr id="11" name="Rectangle 2">
            <a:extLst>
              <a:ext uri="{FF2B5EF4-FFF2-40B4-BE49-F238E27FC236}">
                <a16:creationId xmlns:a16="http://schemas.microsoft.com/office/drawing/2014/main" id="{39172478-B0CC-60F4-9D98-350E8A3A02E0}"/>
              </a:ext>
            </a:extLst>
          </p:cNvPr>
          <p:cNvSpPr>
            <a:spLocks noChangeArrowheads="1"/>
          </p:cNvSpPr>
          <p:nvPr/>
        </p:nvSpPr>
        <p:spPr bwMode="auto">
          <a:xfrm>
            <a:off x="5942664" y="4272741"/>
            <a:ext cx="15493601"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25392" numCol="1" anchor="ctr" anchorCtr="0" compatLnSpc="1">
            <a:prstTxWarp prst="textNoShape">
              <a:avLst/>
            </a:prstTxWarp>
            <a:spAutoFit/>
          </a:bodyPr>
          <a:lstStyle/>
          <a:p>
            <a:endParaRPr lang="en-IN"/>
          </a:p>
        </p:txBody>
      </p:sp>
      <p:sp>
        <p:nvSpPr>
          <p:cNvPr id="13" name="TextBox 12">
            <a:extLst>
              <a:ext uri="{FF2B5EF4-FFF2-40B4-BE49-F238E27FC236}">
                <a16:creationId xmlns:a16="http://schemas.microsoft.com/office/drawing/2014/main" id="{29C10AEB-40B0-3144-0E9E-81C8B7492158}"/>
              </a:ext>
            </a:extLst>
          </p:cNvPr>
          <p:cNvSpPr txBox="1"/>
          <p:nvPr/>
        </p:nvSpPr>
        <p:spPr>
          <a:xfrm>
            <a:off x="678882" y="5068514"/>
            <a:ext cx="10926216" cy="923330"/>
          </a:xfrm>
          <a:prstGeom prst="rect">
            <a:avLst/>
          </a:prstGeom>
          <a:noFill/>
        </p:spPr>
        <p:txBody>
          <a:bodyPr wrap="square">
            <a:spAutoFit/>
          </a:bodyPr>
          <a:lstStyle/>
          <a:p>
            <a:pPr algn="just" fontAlgn="base">
              <a:spcBef>
                <a:spcPts val="1200"/>
              </a:spcBef>
              <a:spcAft>
                <a:spcPts val="900"/>
              </a:spcAft>
              <a:buNone/>
            </a:pPr>
            <a:r>
              <a:rPr lang="en-US" dirty="0" err="1">
                <a:solidFill>
                  <a:srgbClr val="3C4043"/>
                </a:solidFill>
                <a:effectLst/>
                <a:latin typeface="Inter"/>
              </a:rPr>
              <a:t>model_log</a:t>
            </a:r>
            <a:r>
              <a:rPr lang="en-US" dirty="0">
                <a:solidFill>
                  <a:srgbClr val="3C4043"/>
                </a:solidFill>
                <a:effectLst/>
                <a:latin typeface="Inter"/>
              </a:rPr>
              <a:t> is better at recognizing actual fake accounts as such (recall), while </a:t>
            </a:r>
            <a:r>
              <a:rPr lang="en-US" dirty="0" err="1">
                <a:solidFill>
                  <a:srgbClr val="3C4043"/>
                </a:solidFill>
                <a:effectLst/>
                <a:latin typeface="Inter"/>
              </a:rPr>
              <a:t>model_reg</a:t>
            </a:r>
            <a:r>
              <a:rPr lang="en-US" dirty="0">
                <a:solidFill>
                  <a:srgbClr val="3C4043"/>
                </a:solidFill>
                <a:effectLst/>
                <a:latin typeface="Inter"/>
              </a:rPr>
              <a:t> has more actual fake accounts among predicted fake accounts (precision). In other words, </a:t>
            </a:r>
            <a:r>
              <a:rPr lang="en-US" dirty="0" err="1">
                <a:solidFill>
                  <a:srgbClr val="3C4043"/>
                </a:solidFill>
                <a:effectLst/>
                <a:latin typeface="Inter"/>
              </a:rPr>
              <a:t>model_log's</a:t>
            </a:r>
            <a:r>
              <a:rPr lang="en-US" dirty="0">
                <a:solidFill>
                  <a:srgbClr val="3C4043"/>
                </a:solidFill>
                <a:effectLst/>
                <a:latin typeface="Inter"/>
              </a:rPr>
              <a:t> predictions can be trusted a little less than </a:t>
            </a:r>
            <a:r>
              <a:rPr lang="en-US" dirty="0" err="1">
                <a:solidFill>
                  <a:srgbClr val="3C4043"/>
                </a:solidFill>
                <a:effectLst/>
                <a:latin typeface="Inter"/>
              </a:rPr>
              <a:t>model_reg</a:t>
            </a:r>
            <a:r>
              <a:rPr lang="en-US" dirty="0">
                <a:solidFill>
                  <a:srgbClr val="3C4043"/>
                </a:solidFill>
                <a:effectLst/>
                <a:latin typeface="Inter"/>
              </a:rPr>
              <a:t>.</a:t>
            </a:r>
          </a:p>
        </p:txBody>
      </p:sp>
    </p:spTree>
    <p:extLst>
      <p:ext uri="{BB962C8B-B14F-4D97-AF65-F5344CB8AC3E}">
        <p14:creationId xmlns:p14="http://schemas.microsoft.com/office/powerpoint/2010/main" val="1682656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D07C4-A7C9-BA47-3620-B708D22C9A8E}"/>
              </a:ext>
            </a:extLst>
          </p:cNvPr>
          <p:cNvSpPr>
            <a:spLocks noGrp="1"/>
          </p:cNvSpPr>
          <p:nvPr>
            <p:ph type="title"/>
          </p:nvPr>
        </p:nvSpPr>
        <p:spPr>
          <a:xfrm>
            <a:off x="447472" y="516114"/>
            <a:ext cx="11065645" cy="612775"/>
          </a:xfrm>
        </p:spPr>
        <p:txBody>
          <a:bodyPr>
            <a:noAutofit/>
          </a:bodyPr>
          <a:lstStyle/>
          <a:p>
            <a:pPr algn="ctr" fontAlgn="base"/>
            <a:r>
              <a:rPr lang="en-US" sz="5000" dirty="0"/>
              <a:t>ROC (Receiver Operating Characteristic)</a:t>
            </a:r>
          </a:p>
        </p:txBody>
      </p:sp>
      <p:sp>
        <p:nvSpPr>
          <p:cNvPr id="6" name="Content Placeholder 5">
            <a:extLst>
              <a:ext uri="{FF2B5EF4-FFF2-40B4-BE49-F238E27FC236}">
                <a16:creationId xmlns:a16="http://schemas.microsoft.com/office/drawing/2014/main" id="{30BB35BC-89A6-43E7-2C0C-A2CD4A1C40AD}"/>
              </a:ext>
            </a:extLst>
          </p:cNvPr>
          <p:cNvSpPr>
            <a:spLocks noGrp="1"/>
          </p:cNvSpPr>
          <p:nvPr>
            <p:ph idx="1"/>
          </p:nvPr>
        </p:nvSpPr>
        <p:spPr/>
        <p:txBody>
          <a:bodyPr>
            <a:normAutofit/>
          </a:bodyPr>
          <a:lstStyle/>
          <a:p>
            <a:pPr marL="0" indent="0" fontAlgn="base">
              <a:buNone/>
            </a:pPr>
            <a:r>
              <a:rPr lang="en-US" dirty="0"/>
              <a:t>LogisticRegression uses a threshold of 0.5 (50%) for determining the predicted categories. If we lower this threshold, there are more and more positive predictions and thus the recall increases. At the same time, however, the precision also decreases, because more and more of the predicted reference category cases are not fake at all.</a:t>
            </a:r>
          </a:p>
          <a:p>
            <a:pPr marL="0" indent="0" fontAlgn="base">
              <a:buNone/>
            </a:pPr>
            <a:r>
              <a:rPr lang="en-US" b="1" dirty="0"/>
              <a:t>The question here is which classification threshold suits our specific problem well?</a:t>
            </a:r>
            <a:r>
              <a:rPr lang="en-US" dirty="0"/>
              <a:t> We can investigate this issue with the help of </a:t>
            </a:r>
            <a:r>
              <a:rPr lang="en-US" u="sng" dirty="0">
                <a:hlinkClick r:id="rId2"/>
              </a:rPr>
              <a:t>ROC (Receiver Operating Characteristic) curve</a:t>
            </a:r>
            <a:r>
              <a:rPr lang="en-US" dirty="0"/>
              <a:t>. ROC curves are a nice way to see how any predictive classifier like logistic regression model can distinguish between the true positives and negatives.</a:t>
            </a:r>
          </a:p>
        </p:txBody>
      </p:sp>
    </p:spTree>
    <p:extLst>
      <p:ext uri="{BB962C8B-B14F-4D97-AF65-F5344CB8AC3E}">
        <p14:creationId xmlns:p14="http://schemas.microsoft.com/office/powerpoint/2010/main" val="1043761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7393B1-EA43-DECF-FC23-8FE232C4C9B5}"/>
              </a:ext>
            </a:extLst>
          </p:cNvPr>
          <p:cNvSpPr>
            <a:spLocks noGrp="1"/>
          </p:cNvSpPr>
          <p:nvPr>
            <p:ph idx="1"/>
          </p:nvPr>
        </p:nvSpPr>
        <p:spPr/>
        <p:txBody>
          <a:bodyPr numCol="2"/>
          <a:lstStyle/>
          <a:p>
            <a:pPr marL="0" indent="0" algn="just">
              <a:buNone/>
            </a:pPr>
            <a:r>
              <a:rPr lang="en-US" dirty="0"/>
              <a:t>The ROC curve does this by plotting sensitivity, the probability of predicting a real positive will be a positive, against 1-specificity, the probability of predicting a real negative will be a positive.</a:t>
            </a:r>
            <a:endParaRPr lang="en-IN" dirty="0"/>
          </a:p>
        </p:txBody>
      </p:sp>
      <p:sp>
        <p:nvSpPr>
          <p:cNvPr id="4" name="Title 1">
            <a:extLst>
              <a:ext uri="{FF2B5EF4-FFF2-40B4-BE49-F238E27FC236}">
                <a16:creationId xmlns:a16="http://schemas.microsoft.com/office/drawing/2014/main" id="{32D13249-D111-7A63-22C2-BBCC8597CFC8}"/>
              </a:ext>
            </a:extLst>
          </p:cNvPr>
          <p:cNvSpPr txBox="1">
            <a:spLocks/>
          </p:cNvSpPr>
          <p:nvPr/>
        </p:nvSpPr>
        <p:spPr>
          <a:xfrm>
            <a:off x="563177" y="681484"/>
            <a:ext cx="11065645" cy="612775"/>
          </a:xfrm>
          <a:prstGeom prst="rect">
            <a:avLst/>
          </a:prstGeom>
        </p:spPr>
        <p:txBody>
          <a:bodyPr vert="horz" lIns="0" tIns="0" rIns="0" bIns="0" rtlCol="0" anchor="ctr">
            <a:noAutofit/>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algn="ctr" fontAlgn="base"/>
            <a:r>
              <a:rPr lang="en-US" sz="5000" dirty="0"/>
              <a:t>ROC (Receiver Operating Characteristic)</a:t>
            </a:r>
          </a:p>
        </p:txBody>
      </p:sp>
      <p:pic>
        <p:nvPicPr>
          <p:cNvPr id="8" name="Picture 7">
            <a:extLst>
              <a:ext uri="{FF2B5EF4-FFF2-40B4-BE49-F238E27FC236}">
                <a16:creationId xmlns:a16="http://schemas.microsoft.com/office/drawing/2014/main" id="{9FB2D917-E707-CA12-5164-93EDB52376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294259"/>
            <a:ext cx="5417116" cy="4882257"/>
          </a:xfrm>
          <a:prstGeom prst="rect">
            <a:avLst/>
          </a:prstGeom>
        </p:spPr>
      </p:pic>
    </p:spTree>
    <p:extLst>
      <p:ext uri="{BB962C8B-B14F-4D97-AF65-F5344CB8AC3E}">
        <p14:creationId xmlns:p14="http://schemas.microsoft.com/office/powerpoint/2010/main" val="2388965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2A031-B48C-3198-C784-AF118082D3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0C212C-14CC-9F7B-F37E-27574F46B3E7}"/>
              </a:ext>
            </a:extLst>
          </p:cNvPr>
          <p:cNvSpPr>
            <a:spLocks noGrp="1"/>
          </p:cNvSpPr>
          <p:nvPr>
            <p:ph type="title"/>
          </p:nvPr>
        </p:nvSpPr>
        <p:spPr>
          <a:xfrm>
            <a:off x="678884" y="478159"/>
            <a:ext cx="10834234" cy="612775"/>
          </a:xfrm>
        </p:spPr>
        <p:txBody>
          <a:bodyPr>
            <a:noAutofit/>
          </a:bodyPr>
          <a:lstStyle/>
          <a:p>
            <a:pPr algn="ctr"/>
            <a:r>
              <a:rPr lang="en-US" sz="5000" dirty="0"/>
              <a:t>ROC (Receiver Operating Characteristic)</a:t>
            </a:r>
            <a:endParaRPr lang="en-IN" sz="5000" dirty="0"/>
          </a:p>
        </p:txBody>
      </p:sp>
      <p:sp>
        <p:nvSpPr>
          <p:cNvPr id="3" name="Content Placeholder 2">
            <a:extLst>
              <a:ext uri="{FF2B5EF4-FFF2-40B4-BE49-F238E27FC236}">
                <a16:creationId xmlns:a16="http://schemas.microsoft.com/office/drawing/2014/main" id="{FD9F4DF5-AA08-F43C-5253-BE3290082171}"/>
              </a:ext>
            </a:extLst>
          </p:cNvPr>
          <p:cNvSpPr>
            <a:spLocks noGrp="1"/>
          </p:cNvSpPr>
          <p:nvPr>
            <p:ph idx="1"/>
          </p:nvPr>
        </p:nvSpPr>
        <p:spPr>
          <a:xfrm>
            <a:off x="678884" y="1192305"/>
            <a:ext cx="10834234" cy="4805081"/>
          </a:xfrm>
        </p:spPr>
        <p:txBody>
          <a:bodyPr>
            <a:noAutofit/>
          </a:bodyPr>
          <a:lstStyle/>
          <a:p>
            <a:pPr marL="0" indent="0" algn="just" fontAlgn="base">
              <a:buNone/>
            </a:pPr>
            <a:r>
              <a:rPr lang="en-US" sz="2000" dirty="0"/>
              <a:t>The false positive rate is essentially a measure of how often a “false case” will occur — or, how often an actual negative instance will be classified as positive. Figure above demonstrates how some theoretical classifiers would plot on an ROC curve. The gray dotted line represents a classifier that is no better than random guessing — this will plot as a diagonal line. The purple line represents a perfect classifier — one with a true positive rate of 100% and a false positive rate of 0%. Nearly all real-world examples will fall somewhere between these two lines — not perfect, but providing more predictive power than random guessing. Typically, what we’re looking for is a classifier that maintains a high true positive rate while also having a low false positive rate — this ideal classifier would “hug” the upper left corner of Figure 1, much like the purple line in figure above. Image and text taken from: </a:t>
            </a:r>
            <a:r>
              <a:rPr lang="en-US" sz="2000" u="sng" dirty="0">
                <a:hlinkClick r:id="rId2"/>
              </a:rPr>
              <a:t>https://towardsdatascience.com/understanding-the-roc-curve-and-auc-dd4f9a192ecb</a:t>
            </a:r>
            <a:endParaRPr lang="en-US" sz="2000" dirty="0"/>
          </a:p>
          <a:p>
            <a:pPr marL="0" indent="0" algn="just" fontAlgn="base">
              <a:buNone/>
            </a:pPr>
            <a:r>
              <a:rPr lang="en-US" sz="2000" dirty="0"/>
              <a:t>Back to our problem, how can we compare two different implemented model above? What are the false positive rates for </a:t>
            </a:r>
            <a:r>
              <a:rPr lang="en-US" sz="2000" dirty="0" err="1"/>
              <a:t>model_log</a:t>
            </a:r>
            <a:r>
              <a:rPr lang="en-US" sz="2000" dirty="0"/>
              <a:t> and </a:t>
            </a:r>
            <a:r>
              <a:rPr lang="en-US" sz="2000" dirty="0" err="1"/>
              <a:t>model_reg</a:t>
            </a:r>
            <a:r>
              <a:rPr lang="en-US" sz="2000" dirty="0"/>
              <a:t>? how the recall and the false positive rate change with the threshold. This can be investigated via ROC curve.</a:t>
            </a:r>
          </a:p>
          <a:p>
            <a:pPr marL="0" indent="0" algn="just" fontAlgn="base">
              <a:buNone/>
            </a:pPr>
            <a:r>
              <a:rPr lang="en-US" sz="2000" dirty="0"/>
              <a:t>The </a:t>
            </a:r>
            <a:r>
              <a:rPr lang="en-US" sz="2000" dirty="0" err="1"/>
              <a:t>roc_curve</a:t>
            </a:r>
            <a:r>
              <a:rPr lang="en-US" sz="2000" dirty="0"/>
              <a:t>() function from </a:t>
            </a:r>
            <a:r>
              <a:rPr lang="en-US" sz="2000" dirty="0" err="1"/>
              <a:t>sklearn.metrics</a:t>
            </a:r>
            <a:r>
              <a:rPr lang="en-US" sz="2000" dirty="0"/>
              <a:t> calculates the values ​​of the curve. It needs the predicted probabilities. In a classification model, we always use </a:t>
            </a:r>
            <a:r>
              <a:rPr lang="en-US" sz="2000" dirty="0" err="1"/>
              <a:t>my_model.predict</a:t>
            </a:r>
            <a:r>
              <a:rPr lang="en-US" sz="2000" dirty="0"/>
              <a:t>() to predict the categories. Instead, if we want to know the probability of belonging to one category or another, we should use </a:t>
            </a:r>
            <a:r>
              <a:rPr lang="en-US" sz="2000" u="sng" dirty="0" err="1">
                <a:hlinkClick r:id="rId3"/>
              </a:rPr>
              <a:t>my_model.predict_proba</a:t>
            </a:r>
            <a:r>
              <a:rPr lang="en-US" sz="2000" u="sng" dirty="0">
                <a:hlinkClick r:id="rId3"/>
              </a:rPr>
              <a:t>()</a:t>
            </a:r>
            <a:r>
              <a:rPr lang="en-US" sz="2000" dirty="0"/>
              <a:t>.</a:t>
            </a:r>
            <a:endParaRPr lang="en-IN" sz="2000" dirty="0"/>
          </a:p>
        </p:txBody>
      </p:sp>
    </p:spTree>
    <p:extLst>
      <p:ext uri="{BB962C8B-B14F-4D97-AF65-F5344CB8AC3E}">
        <p14:creationId xmlns:p14="http://schemas.microsoft.com/office/powerpoint/2010/main" val="30022595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E79A8-41FD-AB2E-ED55-911DFD6D6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87FC9-6161-A591-4CFD-A676969CF72C}"/>
              </a:ext>
            </a:extLst>
          </p:cNvPr>
          <p:cNvSpPr>
            <a:spLocks noGrp="1"/>
          </p:cNvSpPr>
          <p:nvPr>
            <p:ph type="title"/>
          </p:nvPr>
        </p:nvSpPr>
        <p:spPr/>
        <p:txBody>
          <a:bodyPr>
            <a:noAutofit/>
          </a:bodyPr>
          <a:lstStyle/>
          <a:p>
            <a:r>
              <a:rPr lang="en-US" sz="5000" dirty="0"/>
              <a:t>ROC (Receiver Operating Characteristic)</a:t>
            </a:r>
            <a:endParaRPr lang="en-IN" sz="5000" dirty="0"/>
          </a:p>
        </p:txBody>
      </p:sp>
      <p:sp>
        <p:nvSpPr>
          <p:cNvPr id="3" name="Content Placeholder 2">
            <a:extLst>
              <a:ext uri="{FF2B5EF4-FFF2-40B4-BE49-F238E27FC236}">
                <a16:creationId xmlns:a16="http://schemas.microsoft.com/office/drawing/2014/main" id="{2EC46D6D-E596-B70C-4116-98202A49F56F}"/>
              </a:ext>
            </a:extLst>
          </p:cNvPr>
          <p:cNvSpPr>
            <a:spLocks noGrp="1"/>
          </p:cNvSpPr>
          <p:nvPr>
            <p:ph idx="1"/>
          </p:nvPr>
        </p:nvSpPr>
        <p:spPr>
          <a:xfrm>
            <a:off x="678884" y="1389529"/>
            <a:ext cx="10834234" cy="4683612"/>
          </a:xfrm>
        </p:spPr>
        <p:txBody>
          <a:bodyPr numCol="2"/>
          <a:lstStyle/>
          <a:p>
            <a:pPr marL="0" indent="0">
              <a:buNone/>
            </a:pPr>
            <a:r>
              <a:rPr lang="en-US" dirty="0"/>
              <a:t>The red curve is the outcome from the model without regularization. From the recall of around 42% and from a false positive rate of approx. 19%, it hardly deviates from the ideal. So the model appears generally very good as it follows the gray ideal rather than the blue rate line. But it's not perfect.</a:t>
            </a:r>
            <a:endParaRPr lang="en-IN" dirty="0"/>
          </a:p>
        </p:txBody>
      </p:sp>
      <p:pic>
        <p:nvPicPr>
          <p:cNvPr id="5" name="Picture 4">
            <a:extLst>
              <a:ext uri="{FF2B5EF4-FFF2-40B4-BE49-F238E27FC236}">
                <a16:creationId xmlns:a16="http://schemas.microsoft.com/office/drawing/2014/main" id="{8B4A8E2E-CE04-D1CF-307A-E35ED6C9A1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5650" y="1610769"/>
            <a:ext cx="5065056" cy="3857702"/>
          </a:xfrm>
          <a:prstGeom prst="rect">
            <a:avLst/>
          </a:prstGeom>
        </p:spPr>
      </p:pic>
    </p:spTree>
    <p:extLst>
      <p:ext uri="{BB962C8B-B14F-4D97-AF65-F5344CB8AC3E}">
        <p14:creationId xmlns:p14="http://schemas.microsoft.com/office/powerpoint/2010/main" val="14390780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17141-AE8F-E905-3F5C-AE08EEAF8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F63AC-9B40-5BF4-71C0-9A6E077CB341}"/>
              </a:ext>
            </a:extLst>
          </p:cNvPr>
          <p:cNvSpPr>
            <a:spLocks noGrp="1"/>
          </p:cNvSpPr>
          <p:nvPr>
            <p:ph type="title"/>
          </p:nvPr>
        </p:nvSpPr>
        <p:spPr/>
        <p:txBody>
          <a:bodyPr>
            <a:noAutofit/>
          </a:bodyPr>
          <a:lstStyle/>
          <a:p>
            <a:r>
              <a:rPr lang="en-US" sz="5000" dirty="0"/>
              <a:t>ROC (Receiver Operating Characteristic)</a:t>
            </a:r>
            <a:endParaRPr lang="en-IN" sz="5000" dirty="0"/>
          </a:p>
        </p:txBody>
      </p:sp>
      <p:sp>
        <p:nvSpPr>
          <p:cNvPr id="3" name="Content Placeholder 2">
            <a:extLst>
              <a:ext uri="{FF2B5EF4-FFF2-40B4-BE49-F238E27FC236}">
                <a16:creationId xmlns:a16="http://schemas.microsoft.com/office/drawing/2014/main" id="{CBDA1B1D-6687-D407-2571-8D9967D7181B}"/>
              </a:ext>
            </a:extLst>
          </p:cNvPr>
          <p:cNvSpPr>
            <a:spLocks noGrp="1"/>
          </p:cNvSpPr>
          <p:nvPr>
            <p:ph idx="1"/>
          </p:nvPr>
        </p:nvSpPr>
        <p:spPr>
          <a:xfrm>
            <a:off x="678884" y="1389529"/>
            <a:ext cx="10834234" cy="4683612"/>
          </a:xfrm>
        </p:spPr>
        <p:txBody>
          <a:bodyPr numCol="2"/>
          <a:lstStyle/>
          <a:p>
            <a:pPr marL="0" indent="0">
              <a:buNone/>
            </a:pPr>
            <a:r>
              <a:rPr lang="en-US" dirty="0"/>
              <a:t>The ROC curve of the model with regularization (</a:t>
            </a:r>
            <a:r>
              <a:rPr lang="en-US" dirty="0" err="1"/>
              <a:t>model_reg</a:t>
            </a:r>
            <a:r>
              <a:rPr lang="en-US" dirty="0"/>
              <a:t>) deviates a little more from the ideal gray dashed line of the model without regularization (</a:t>
            </a:r>
            <a:r>
              <a:rPr lang="en-US" dirty="0" err="1"/>
              <a:t>model_log</a:t>
            </a:r>
            <a:r>
              <a:rPr lang="en-US" dirty="0"/>
              <a:t>). This suggests that the logistic regression model with regularization is slightly worse in accuracy than the non-regularized model.</a:t>
            </a:r>
            <a:endParaRPr lang="en-IN" dirty="0"/>
          </a:p>
        </p:txBody>
      </p:sp>
      <p:pic>
        <p:nvPicPr>
          <p:cNvPr id="6" name="Picture 5">
            <a:extLst>
              <a:ext uri="{FF2B5EF4-FFF2-40B4-BE49-F238E27FC236}">
                <a16:creationId xmlns:a16="http://schemas.microsoft.com/office/drawing/2014/main" id="{41A6CAA8-8588-4222-08E9-11E3832F83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4612" y="1589316"/>
            <a:ext cx="5074024" cy="3870190"/>
          </a:xfrm>
          <a:prstGeom prst="rect">
            <a:avLst/>
          </a:prstGeom>
        </p:spPr>
      </p:pic>
    </p:spTree>
    <p:extLst>
      <p:ext uri="{BB962C8B-B14F-4D97-AF65-F5344CB8AC3E}">
        <p14:creationId xmlns:p14="http://schemas.microsoft.com/office/powerpoint/2010/main" val="41977018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B3F57-6E09-527B-2076-7EFC7A8F61D6}"/>
              </a:ext>
            </a:extLst>
          </p:cNvPr>
          <p:cNvSpPr>
            <a:spLocks noGrp="1"/>
          </p:cNvSpPr>
          <p:nvPr>
            <p:ph type="title"/>
          </p:nvPr>
        </p:nvSpPr>
        <p:spPr/>
        <p:txBody>
          <a:bodyPr>
            <a:noAutofit/>
          </a:bodyPr>
          <a:lstStyle/>
          <a:p>
            <a:pPr algn="ctr"/>
            <a:r>
              <a:rPr lang="en-IN" sz="6000" dirty="0"/>
              <a:t>ROC AUC Measure</a:t>
            </a:r>
          </a:p>
        </p:txBody>
      </p:sp>
      <p:sp>
        <p:nvSpPr>
          <p:cNvPr id="3" name="Content Placeholder 2">
            <a:extLst>
              <a:ext uri="{FF2B5EF4-FFF2-40B4-BE49-F238E27FC236}">
                <a16:creationId xmlns:a16="http://schemas.microsoft.com/office/drawing/2014/main" id="{B0B54072-1388-FC20-D787-772868EAB4B5}"/>
              </a:ext>
            </a:extLst>
          </p:cNvPr>
          <p:cNvSpPr>
            <a:spLocks noGrp="1"/>
          </p:cNvSpPr>
          <p:nvPr>
            <p:ph idx="1"/>
          </p:nvPr>
        </p:nvSpPr>
        <p:spPr>
          <a:xfrm>
            <a:off x="678882" y="1675075"/>
            <a:ext cx="10834234" cy="4398066"/>
          </a:xfrm>
        </p:spPr>
        <p:txBody>
          <a:bodyPr numCol="2">
            <a:normAutofit/>
          </a:bodyPr>
          <a:lstStyle/>
          <a:p>
            <a:pPr marL="0" indent="0" fontAlgn="base">
              <a:buNone/>
            </a:pPr>
            <a:r>
              <a:rPr lang="en-US" sz="2200" dirty="0"/>
              <a:t>To create a quantifiable model performance measure from the visual impression we just used, use the area under the curve. Hence the name of the model quality measure: receiver operator characteristic area under the curve (ROC-AUC).</a:t>
            </a:r>
          </a:p>
          <a:p>
            <a:pPr marL="0" indent="0" fontAlgn="base">
              <a:buNone/>
            </a:pPr>
            <a:r>
              <a:rPr lang="en-US" sz="2200" dirty="0"/>
              <a:t>The </a:t>
            </a:r>
            <a:r>
              <a:rPr lang="en-US" sz="2200" u="sng" dirty="0">
                <a:hlinkClick r:id="rId2"/>
              </a:rPr>
              <a:t>ROC AUC score </a:t>
            </a:r>
            <a:r>
              <a:rPr lang="en-US" sz="2200" dirty="0"/>
              <a:t>tells us how efficient the model is. The higher the AUC, the better the model’s performance at distinguishing between the positive and negative classes. An AUC score of 1 means the classifier can perfectly distinguish between all the Positive and the Negative class points. An AUC value of 0 shows that the classifier predicts all Negatives as Positives and vice versa.</a:t>
            </a:r>
          </a:p>
        </p:txBody>
      </p:sp>
      <p:pic>
        <p:nvPicPr>
          <p:cNvPr id="2052" name="Picture 4">
            <a:extLst>
              <a:ext uri="{FF2B5EF4-FFF2-40B4-BE49-F238E27FC236}">
                <a16:creationId xmlns:a16="http://schemas.microsoft.com/office/drawing/2014/main" id="{1B240D19-5DCD-FE85-6599-0EDAEF6B6F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2209" y="2330034"/>
            <a:ext cx="5232400" cy="37431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73562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44AA1-CB45-C74E-A07E-273637F3A8D7}"/>
              </a:ext>
            </a:extLst>
          </p:cNvPr>
          <p:cNvSpPr>
            <a:spLocks noGrp="1"/>
          </p:cNvSpPr>
          <p:nvPr>
            <p:ph type="title"/>
          </p:nvPr>
        </p:nvSpPr>
        <p:spPr/>
        <p:txBody>
          <a:bodyPr>
            <a:noAutofit/>
          </a:bodyPr>
          <a:lstStyle/>
          <a:p>
            <a:pPr algn="ctr"/>
            <a:r>
              <a:rPr lang="en-IN" sz="6000" dirty="0"/>
              <a:t>ROC AUC Measure</a:t>
            </a:r>
          </a:p>
        </p:txBody>
      </p:sp>
      <p:sp>
        <p:nvSpPr>
          <p:cNvPr id="3" name="Content Placeholder 2">
            <a:extLst>
              <a:ext uri="{FF2B5EF4-FFF2-40B4-BE49-F238E27FC236}">
                <a16:creationId xmlns:a16="http://schemas.microsoft.com/office/drawing/2014/main" id="{6E3FF9F2-AECA-228E-BDD5-CCEBF4AE6A4A}"/>
              </a:ext>
            </a:extLst>
          </p:cNvPr>
          <p:cNvSpPr>
            <a:spLocks noGrp="1"/>
          </p:cNvSpPr>
          <p:nvPr>
            <p:ph idx="1"/>
          </p:nvPr>
        </p:nvSpPr>
        <p:spPr/>
        <p:txBody>
          <a:bodyPr>
            <a:normAutofit/>
          </a:bodyPr>
          <a:lstStyle/>
          <a:p>
            <a:pPr algn="just"/>
            <a:r>
              <a:rPr lang="en-US" dirty="0" err="1"/>
              <a:t>roc_auc_score</a:t>
            </a:r>
            <a:r>
              <a:rPr lang="en-US" dirty="0"/>
              <a:t> for model without regularization </a:t>
            </a:r>
            <a:r>
              <a:rPr lang="en-US" b="1" dirty="0"/>
              <a:t>0.9636111111111111</a:t>
            </a:r>
          </a:p>
          <a:p>
            <a:pPr algn="just"/>
            <a:r>
              <a:rPr lang="en-US" dirty="0" err="1"/>
              <a:t>roc_auc_score</a:t>
            </a:r>
            <a:r>
              <a:rPr lang="en-US" dirty="0"/>
              <a:t> for model with regularization </a:t>
            </a:r>
            <a:r>
              <a:rPr lang="en-US" b="1" dirty="0"/>
              <a:t>0.7763888888888889</a:t>
            </a:r>
          </a:p>
          <a:p>
            <a:pPr marL="0" indent="0" algn="just">
              <a:buNone/>
            </a:pPr>
            <a:endParaRPr lang="en-US" dirty="0"/>
          </a:p>
          <a:p>
            <a:pPr marL="0" indent="0" algn="just" fontAlgn="base">
              <a:buNone/>
            </a:pPr>
            <a:r>
              <a:rPr lang="en-US" dirty="0"/>
              <a:t>Comparing the score of the model without regularization 96%, to model with regularization 77%, it confirms our visual impression above: the model with regularization follows the ideal less than the model without regularization. The regularization has thus harmed the model quality rather than helped it. Regardless of the chosen decision thresholds, we can conclude that we have overfitted our model!</a:t>
            </a:r>
          </a:p>
        </p:txBody>
      </p:sp>
    </p:spTree>
    <p:extLst>
      <p:ext uri="{BB962C8B-B14F-4D97-AF65-F5344CB8AC3E}">
        <p14:creationId xmlns:p14="http://schemas.microsoft.com/office/powerpoint/2010/main" val="1364099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E2475-DB5A-64FE-9888-463B38B4E547}"/>
              </a:ext>
            </a:extLst>
          </p:cNvPr>
          <p:cNvSpPr>
            <a:spLocks noGrp="1"/>
          </p:cNvSpPr>
          <p:nvPr>
            <p:ph type="title"/>
          </p:nvPr>
        </p:nvSpPr>
        <p:spPr/>
        <p:txBody>
          <a:bodyPr>
            <a:noAutofit/>
          </a:bodyPr>
          <a:lstStyle/>
          <a:p>
            <a:pPr algn="ctr"/>
            <a:r>
              <a:rPr lang="en-US" sz="4800" dirty="0"/>
              <a:t>Find The Best Logistic Regression Model With Grid Search and ROC-AUC</a:t>
            </a:r>
            <a:endParaRPr lang="en-IN" sz="4800" dirty="0"/>
          </a:p>
        </p:txBody>
      </p:sp>
      <p:sp>
        <p:nvSpPr>
          <p:cNvPr id="3" name="Content Placeholder 2">
            <a:extLst>
              <a:ext uri="{FF2B5EF4-FFF2-40B4-BE49-F238E27FC236}">
                <a16:creationId xmlns:a16="http://schemas.microsoft.com/office/drawing/2014/main" id="{4E6DB97F-E365-FAD9-ECF1-2FBABA0FEBC2}"/>
              </a:ext>
            </a:extLst>
          </p:cNvPr>
          <p:cNvSpPr>
            <a:spLocks noGrp="1"/>
          </p:cNvSpPr>
          <p:nvPr>
            <p:ph idx="1"/>
          </p:nvPr>
        </p:nvSpPr>
        <p:spPr/>
        <p:txBody>
          <a:bodyPr>
            <a:normAutofit fontScale="92500" lnSpcReduction="20000"/>
          </a:bodyPr>
          <a:lstStyle/>
          <a:p>
            <a:pPr marL="0" indent="0" algn="just" fontAlgn="base">
              <a:buNone/>
            </a:pPr>
            <a:r>
              <a:rPr lang="en-US" dirty="0"/>
              <a:t>We can now combine the accumulated knowledge. We will use the ROC AUC measure to find the best logistic regression model and then use it to predict the fake status of the social media accounts. Thanks to the </a:t>
            </a:r>
            <a:r>
              <a:rPr lang="en-US" dirty="0" err="1"/>
              <a:t>GridSearchCV</a:t>
            </a:r>
            <a:r>
              <a:rPr lang="en-US" dirty="0"/>
              <a:t> the optimal hyperparameters of models can be found automatically. We can now turn to the pipeline containing the steps from data processing and feature engineering to prediction.</a:t>
            </a:r>
          </a:p>
          <a:p>
            <a:pPr marL="0" indent="0" algn="just" fontAlgn="base">
              <a:buNone/>
            </a:pPr>
            <a:r>
              <a:rPr lang="en-US" dirty="0"/>
              <a:t>Before we can start the grid search, we still have to define the grid of hyperparameters that is to be searched:</a:t>
            </a:r>
          </a:p>
          <a:p>
            <a:pPr algn="just" fontAlgn="base"/>
            <a:r>
              <a:rPr lang="en-US" dirty="0"/>
              <a:t>Penalty: whether the regularization is like Ridge ('l2') or like LASSO ('l1')</a:t>
            </a:r>
          </a:p>
          <a:p>
            <a:pPr algn="just" fontAlgn="base"/>
            <a:r>
              <a:rPr lang="en-US" dirty="0"/>
              <a:t>C: Regularization weakness - Inverse of regularization strength</a:t>
            </a:r>
          </a:p>
          <a:p>
            <a:pPr marL="0" indent="0" algn="just" fontAlgn="base">
              <a:buNone/>
            </a:pPr>
            <a:r>
              <a:rPr lang="en-US" dirty="0"/>
              <a:t>Since we want to try both regularizations of ridge regression and lasso regression, we cannot use '</a:t>
            </a:r>
            <a:r>
              <a:rPr lang="en-US" dirty="0" err="1"/>
              <a:t>lbfgs</a:t>
            </a:r>
            <a:r>
              <a:rPr lang="en-US" dirty="0"/>
              <a:t>' as before. Only the 'saga' setting supports both types of regularization. Please see </a:t>
            </a:r>
            <a:r>
              <a:rPr lang="en-US" u="sng" dirty="0">
                <a:hlinkClick r:id="rId2"/>
              </a:rPr>
              <a:t>here</a:t>
            </a:r>
            <a:r>
              <a:rPr lang="en-US" dirty="0"/>
              <a:t> for more details.</a:t>
            </a:r>
          </a:p>
        </p:txBody>
      </p:sp>
    </p:spTree>
    <p:extLst>
      <p:ext uri="{BB962C8B-B14F-4D97-AF65-F5344CB8AC3E}">
        <p14:creationId xmlns:p14="http://schemas.microsoft.com/office/powerpoint/2010/main" val="2574728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62D81-4545-4BA3-B5A1-CE903D6D0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B4159-C295-C944-FDB2-D9DA71EFBB13}"/>
              </a:ext>
            </a:extLst>
          </p:cNvPr>
          <p:cNvSpPr>
            <a:spLocks noGrp="1"/>
          </p:cNvSpPr>
          <p:nvPr>
            <p:ph type="title"/>
          </p:nvPr>
        </p:nvSpPr>
        <p:spPr/>
        <p:txBody>
          <a:bodyPr>
            <a:noAutofit/>
          </a:bodyPr>
          <a:lstStyle/>
          <a:p>
            <a:pPr algn="ctr"/>
            <a:r>
              <a:rPr lang="en-US" sz="4800" dirty="0"/>
              <a:t>Find The Best Logistic Regression Model With Grid Search and ROC-AUC</a:t>
            </a:r>
            <a:endParaRPr lang="en-IN" sz="4800" dirty="0"/>
          </a:p>
        </p:txBody>
      </p:sp>
      <p:sp>
        <p:nvSpPr>
          <p:cNvPr id="3" name="Content Placeholder 2">
            <a:extLst>
              <a:ext uri="{FF2B5EF4-FFF2-40B4-BE49-F238E27FC236}">
                <a16:creationId xmlns:a16="http://schemas.microsoft.com/office/drawing/2014/main" id="{43078FF0-5228-FD1D-0C76-F61E1118594B}"/>
              </a:ext>
            </a:extLst>
          </p:cNvPr>
          <p:cNvSpPr>
            <a:spLocks noGrp="1"/>
          </p:cNvSpPr>
          <p:nvPr>
            <p:ph idx="1"/>
          </p:nvPr>
        </p:nvSpPr>
        <p:spPr/>
        <p:txBody>
          <a:bodyPr>
            <a:normAutofit/>
          </a:bodyPr>
          <a:lstStyle/>
          <a:p>
            <a:pPr marL="0" indent="0" algn="just" fontAlgn="base">
              <a:buNone/>
            </a:pPr>
            <a:r>
              <a:rPr lang="en-US" dirty="0"/>
              <a:t>In order for the algorithm to find a good result, it has to make a relatively large number of attempts. Therefore, </a:t>
            </a:r>
            <a:r>
              <a:rPr lang="en-US" dirty="0" err="1"/>
              <a:t>max_iter</a:t>
            </a:r>
            <a:r>
              <a:rPr lang="en-US" dirty="0"/>
              <a:t> should be increased from the default of 100 iterations. 10000 iterations (1e4) seem to be enough.</a:t>
            </a:r>
          </a:p>
          <a:p>
            <a:pPr marL="0" indent="0" algn="just" fontAlgn="base">
              <a:buNone/>
            </a:pPr>
            <a:r>
              <a:rPr lang="en-US" b="1" dirty="0"/>
              <a:t>The logistic regression model that leads to this value uses a regularization like the ridge regression (penalty='l2') and regularizes a little less than the standard model (C=4.92).</a:t>
            </a:r>
            <a:endParaRPr lang="en-US" dirty="0"/>
          </a:p>
        </p:txBody>
      </p:sp>
      <p:pic>
        <p:nvPicPr>
          <p:cNvPr id="5" name="Picture 4">
            <a:extLst>
              <a:ext uri="{FF2B5EF4-FFF2-40B4-BE49-F238E27FC236}">
                <a16:creationId xmlns:a16="http://schemas.microsoft.com/office/drawing/2014/main" id="{7D48F881-0DDF-AD0B-3CDA-63A299A805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8341" y="4251232"/>
            <a:ext cx="9135317" cy="1826839"/>
          </a:xfrm>
          <a:prstGeom prst="rect">
            <a:avLst/>
          </a:prstGeom>
        </p:spPr>
      </p:pic>
    </p:spTree>
    <p:extLst>
      <p:ext uri="{BB962C8B-B14F-4D97-AF65-F5344CB8AC3E}">
        <p14:creationId xmlns:p14="http://schemas.microsoft.com/office/powerpoint/2010/main" val="10586063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7EFC6-95BC-EFE1-293E-0E0A8F16337C}"/>
              </a:ext>
            </a:extLst>
          </p:cNvPr>
          <p:cNvSpPr>
            <a:spLocks noGrp="1"/>
          </p:cNvSpPr>
          <p:nvPr>
            <p:ph type="title"/>
          </p:nvPr>
        </p:nvSpPr>
        <p:spPr/>
        <p:txBody>
          <a:bodyPr>
            <a:noAutofit/>
          </a:bodyPr>
          <a:lstStyle/>
          <a:p>
            <a:pPr algn="ctr"/>
            <a:r>
              <a:rPr lang="en-US" sz="6000" dirty="0"/>
              <a:t>Model Evaluation With Test Data</a:t>
            </a:r>
            <a:endParaRPr lang="en-IN" sz="6000" dirty="0"/>
          </a:p>
        </p:txBody>
      </p:sp>
      <p:sp>
        <p:nvSpPr>
          <p:cNvPr id="3" name="Content Placeholder 2">
            <a:extLst>
              <a:ext uri="{FF2B5EF4-FFF2-40B4-BE49-F238E27FC236}">
                <a16:creationId xmlns:a16="http://schemas.microsoft.com/office/drawing/2014/main" id="{5A544E14-F260-CDC7-4E99-C9F72D59B60D}"/>
              </a:ext>
            </a:extLst>
          </p:cNvPr>
          <p:cNvSpPr>
            <a:spLocks noGrp="1"/>
          </p:cNvSpPr>
          <p:nvPr>
            <p:ph idx="1"/>
          </p:nvPr>
        </p:nvSpPr>
        <p:spPr/>
        <p:txBody>
          <a:bodyPr/>
          <a:lstStyle/>
          <a:p>
            <a:pPr marL="0" indent="0">
              <a:buNone/>
            </a:pPr>
            <a:r>
              <a:rPr lang="en-US" dirty="0"/>
              <a:t>It is best to check whether the extraordinarily good model quality according to cross-validation is also achieved with the test data.</a:t>
            </a:r>
          </a:p>
          <a:p>
            <a:pPr marL="0" indent="0">
              <a:buNone/>
            </a:pPr>
            <a:endParaRPr lang="en-US" dirty="0"/>
          </a:p>
          <a:p>
            <a:pPr>
              <a:buFont typeface="Wingdings" panose="05000000000000000000" pitchFamily="2" charset="2"/>
              <a:buChar char="Ø"/>
            </a:pPr>
            <a:r>
              <a:rPr lang="en-IN" b="1" dirty="0"/>
              <a:t> 0.9391666666666667</a:t>
            </a:r>
          </a:p>
          <a:p>
            <a:pPr marL="0" indent="0">
              <a:buNone/>
            </a:pPr>
            <a:endParaRPr lang="en-US" b="1" dirty="0"/>
          </a:p>
          <a:p>
            <a:pPr marL="0" indent="0">
              <a:buNone/>
            </a:pPr>
            <a:r>
              <a:rPr lang="en-US" dirty="0"/>
              <a:t>This value (ROC-AUC measure of 93.9%) is very good, but unfortunately slightly lower than the model figure of merit calculated using the validation data during the grid search. A discrepancy between model performance on test data and validation data is common.</a:t>
            </a:r>
            <a:endParaRPr lang="en-IN" dirty="0"/>
          </a:p>
        </p:txBody>
      </p:sp>
    </p:spTree>
    <p:extLst>
      <p:ext uri="{BB962C8B-B14F-4D97-AF65-F5344CB8AC3E}">
        <p14:creationId xmlns:p14="http://schemas.microsoft.com/office/powerpoint/2010/main" val="1365096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8F0E2-E0A0-73E0-0D68-BA59C1DEEBDA}"/>
              </a:ext>
            </a:extLst>
          </p:cNvPr>
          <p:cNvSpPr>
            <a:spLocks noGrp="1"/>
          </p:cNvSpPr>
          <p:nvPr>
            <p:ph type="title"/>
          </p:nvPr>
        </p:nvSpPr>
        <p:spPr/>
        <p:txBody>
          <a:bodyPr>
            <a:noAutofit/>
          </a:bodyPr>
          <a:lstStyle/>
          <a:p>
            <a:pPr algn="ctr"/>
            <a:r>
              <a:rPr lang="en-IN" sz="6000" dirty="0"/>
              <a:t>Prediction</a:t>
            </a:r>
          </a:p>
        </p:txBody>
      </p:sp>
      <p:sp>
        <p:nvSpPr>
          <p:cNvPr id="3" name="Content Placeholder 2">
            <a:extLst>
              <a:ext uri="{FF2B5EF4-FFF2-40B4-BE49-F238E27FC236}">
                <a16:creationId xmlns:a16="http://schemas.microsoft.com/office/drawing/2014/main" id="{DB3BB244-D6F6-5FDE-6AFA-28F7D9C351B4}"/>
              </a:ext>
            </a:extLst>
          </p:cNvPr>
          <p:cNvSpPr>
            <a:spLocks noGrp="1"/>
          </p:cNvSpPr>
          <p:nvPr>
            <p:ph idx="1"/>
          </p:nvPr>
        </p:nvSpPr>
        <p:spPr>
          <a:xfrm>
            <a:off x="678884" y="3870609"/>
            <a:ext cx="10834234" cy="2202532"/>
          </a:xfrm>
        </p:spPr>
        <p:txBody>
          <a:bodyPr>
            <a:normAutofit fontScale="77500" lnSpcReduction="20000"/>
          </a:bodyPr>
          <a:lstStyle/>
          <a:p>
            <a:pPr marL="0" indent="0" algn="just" fontAlgn="base">
              <a:buNone/>
            </a:pPr>
            <a:r>
              <a:rPr lang="en-US" dirty="0"/>
              <a:t>There are two Instagram accounts where the model is absolutely sure about the categorization. The predicted fake probability is either exactly 1.0 or 0.0. For the other five accounts, the model is less certain. Here the management can decide for itself which threshold value it wants to choose in order to block accounts. The classification with the default threshold of 0.5 can be seen in the '</a:t>
            </a:r>
            <a:r>
              <a:rPr lang="en-US" dirty="0" err="1"/>
              <a:t>fake_pred</a:t>
            </a:r>
            <a:r>
              <a:rPr lang="en-US" dirty="0"/>
              <a:t>' column. She is a good first serve.</a:t>
            </a:r>
          </a:p>
          <a:p>
            <a:pPr marL="0" indent="0" algn="just" fontAlgn="base">
              <a:buNone/>
            </a:pPr>
            <a:r>
              <a:rPr lang="en-US" dirty="0"/>
              <a:t>User accounts are now categorized into real and fake based on their characteristics. We've even exceeded management's expectations because they can now decide for themselves how secure the classification must be before an account is removed.</a:t>
            </a:r>
          </a:p>
        </p:txBody>
      </p:sp>
      <p:graphicFrame>
        <p:nvGraphicFramePr>
          <p:cNvPr id="4" name="Table 3">
            <a:extLst>
              <a:ext uri="{FF2B5EF4-FFF2-40B4-BE49-F238E27FC236}">
                <a16:creationId xmlns:a16="http://schemas.microsoft.com/office/drawing/2014/main" id="{43C18AEB-DCCA-59BB-7DBF-DE95CDA86348}"/>
              </a:ext>
            </a:extLst>
          </p:cNvPr>
          <p:cNvGraphicFramePr>
            <a:graphicFrameLocks noGrp="1"/>
          </p:cNvGraphicFramePr>
          <p:nvPr>
            <p:extLst>
              <p:ext uri="{D42A27DB-BD31-4B8C-83A1-F6EECF244321}">
                <p14:modId xmlns:p14="http://schemas.microsoft.com/office/powerpoint/2010/main" val="1783053720"/>
              </p:ext>
            </p:extLst>
          </p:nvPr>
        </p:nvGraphicFramePr>
        <p:xfrm>
          <a:off x="457200" y="1317813"/>
          <a:ext cx="11361853" cy="2397261"/>
        </p:xfrm>
        <a:graphic>
          <a:graphicData uri="http://schemas.openxmlformats.org/drawingml/2006/table">
            <a:tbl>
              <a:tblPr/>
              <a:tblGrid>
                <a:gridCol w="213122">
                  <a:extLst>
                    <a:ext uri="{9D8B030D-6E8A-4147-A177-3AD203B41FA5}">
                      <a16:colId xmlns:a16="http://schemas.microsoft.com/office/drawing/2014/main" val="2465495410"/>
                    </a:ext>
                  </a:extLst>
                </a:gridCol>
                <a:gridCol w="557843">
                  <a:extLst>
                    <a:ext uri="{9D8B030D-6E8A-4147-A177-3AD203B41FA5}">
                      <a16:colId xmlns:a16="http://schemas.microsoft.com/office/drawing/2014/main" val="667412912"/>
                    </a:ext>
                  </a:extLst>
                </a:gridCol>
                <a:gridCol w="905435">
                  <a:extLst>
                    <a:ext uri="{9D8B030D-6E8A-4147-A177-3AD203B41FA5}">
                      <a16:colId xmlns:a16="http://schemas.microsoft.com/office/drawing/2014/main" val="2372366121"/>
                    </a:ext>
                  </a:extLst>
                </a:gridCol>
                <a:gridCol w="886222">
                  <a:extLst>
                    <a:ext uri="{9D8B030D-6E8A-4147-A177-3AD203B41FA5}">
                      <a16:colId xmlns:a16="http://schemas.microsoft.com/office/drawing/2014/main" val="1517501538"/>
                    </a:ext>
                  </a:extLst>
                </a:gridCol>
                <a:gridCol w="852931">
                  <a:extLst>
                    <a:ext uri="{9D8B030D-6E8A-4147-A177-3AD203B41FA5}">
                      <a16:colId xmlns:a16="http://schemas.microsoft.com/office/drawing/2014/main" val="47251184"/>
                    </a:ext>
                  </a:extLst>
                </a:gridCol>
                <a:gridCol w="641747">
                  <a:extLst>
                    <a:ext uri="{9D8B030D-6E8A-4147-A177-3AD203B41FA5}">
                      <a16:colId xmlns:a16="http://schemas.microsoft.com/office/drawing/2014/main" val="866223671"/>
                    </a:ext>
                  </a:extLst>
                </a:gridCol>
                <a:gridCol w="733822">
                  <a:extLst>
                    <a:ext uri="{9D8B030D-6E8A-4147-A177-3AD203B41FA5}">
                      <a16:colId xmlns:a16="http://schemas.microsoft.com/office/drawing/2014/main" val="2894020062"/>
                    </a:ext>
                  </a:extLst>
                </a:gridCol>
                <a:gridCol w="541734">
                  <a:extLst>
                    <a:ext uri="{9D8B030D-6E8A-4147-A177-3AD203B41FA5}">
                      <a16:colId xmlns:a16="http://schemas.microsoft.com/office/drawing/2014/main" val="490754876"/>
                    </a:ext>
                  </a:extLst>
                </a:gridCol>
                <a:gridCol w="768747">
                  <a:extLst>
                    <a:ext uri="{9D8B030D-6E8A-4147-A177-3AD203B41FA5}">
                      <a16:colId xmlns:a16="http://schemas.microsoft.com/office/drawing/2014/main" val="1199946622"/>
                    </a:ext>
                  </a:extLst>
                </a:gridCol>
                <a:gridCol w="994172">
                  <a:extLst>
                    <a:ext uri="{9D8B030D-6E8A-4147-A177-3AD203B41FA5}">
                      <a16:colId xmlns:a16="http://schemas.microsoft.com/office/drawing/2014/main" val="1937156031"/>
                    </a:ext>
                  </a:extLst>
                </a:gridCol>
                <a:gridCol w="711013">
                  <a:extLst>
                    <a:ext uri="{9D8B030D-6E8A-4147-A177-3AD203B41FA5}">
                      <a16:colId xmlns:a16="http://schemas.microsoft.com/office/drawing/2014/main" val="465083287"/>
                    </a:ext>
                  </a:extLst>
                </a:gridCol>
                <a:gridCol w="711013">
                  <a:extLst>
                    <a:ext uri="{9D8B030D-6E8A-4147-A177-3AD203B41FA5}">
                      <a16:colId xmlns:a16="http://schemas.microsoft.com/office/drawing/2014/main" val="3786258992"/>
                    </a:ext>
                  </a:extLst>
                </a:gridCol>
                <a:gridCol w="711013">
                  <a:extLst>
                    <a:ext uri="{9D8B030D-6E8A-4147-A177-3AD203B41FA5}">
                      <a16:colId xmlns:a16="http://schemas.microsoft.com/office/drawing/2014/main" val="955306492"/>
                    </a:ext>
                  </a:extLst>
                </a:gridCol>
                <a:gridCol w="711013">
                  <a:extLst>
                    <a:ext uri="{9D8B030D-6E8A-4147-A177-3AD203B41FA5}">
                      <a16:colId xmlns:a16="http://schemas.microsoft.com/office/drawing/2014/main" val="4059946085"/>
                    </a:ext>
                  </a:extLst>
                </a:gridCol>
                <a:gridCol w="711013">
                  <a:extLst>
                    <a:ext uri="{9D8B030D-6E8A-4147-A177-3AD203B41FA5}">
                      <a16:colId xmlns:a16="http://schemas.microsoft.com/office/drawing/2014/main" val="2843974931"/>
                    </a:ext>
                  </a:extLst>
                </a:gridCol>
                <a:gridCol w="711013">
                  <a:extLst>
                    <a:ext uri="{9D8B030D-6E8A-4147-A177-3AD203B41FA5}">
                      <a16:colId xmlns:a16="http://schemas.microsoft.com/office/drawing/2014/main" val="3031356794"/>
                    </a:ext>
                  </a:extLst>
                </a:gridCol>
              </a:tblGrid>
              <a:tr h="624831">
                <a:tc>
                  <a:txBody>
                    <a:bodyPr/>
                    <a:lstStyle/>
                    <a:p>
                      <a:pPr fontAlgn="t">
                        <a:buNone/>
                      </a:pPr>
                      <a:endParaRPr lang="en-IN" sz="1100">
                        <a:effectLst/>
                      </a:endParaRP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err="1">
                          <a:effectLst/>
                        </a:rPr>
                        <a:t>profile_pic</a:t>
                      </a:r>
                      <a:endParaRPr lang="en-IN" sz="1100" dirty="0">
                        <a:effectLst/>
                      </a:endParaRP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err="1">
                          <a:effectLst/>
                        </a:rPr>
                        <a:t>ratio_numlen_username</a:t>
                      </a:r>
                      <a:endParaRPr lang="en-IN" sz="1100" dirty="0">
                        <a:effectLst/>
                      </a:endParaRP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len_fullname</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err="1">
                          <a:effectLst/>
                        </a:rPr>
                        <a:t>ratio_numlen_fullname</a:t>
                      </a:r>
                      <a:endParaRPr lang="en-IN" sz="1100" dirty="0">
                        <a:effectLst/>
                      </a:endParaRP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len_desc</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extern_url</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private</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err="1">
                          <a:effectLst/>
                        </a:rPr>
                        <a:t>num_posts</a:t>
                      </a:r>
                      <a:endParaRPr lang="en-IN" sz="1100" dirty="0">
                        <a:effectLst/>
                      </a:endParaRP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err="1">
                          <a:effectLst/>
                        </a:rPr>
                        <a:t>num_followers</a:t>
                      </a:r>
                      <a:endParaRPr lang="en-IN" sz="1100" dirty="0">
                        <a:effectLst/>
                      </a:endParaRP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err="1">
                          <a:effectLst/>
                        </a:rPr>
                        <a:t>num_following</a:t>
                      </a:r>
                      <a:endParaRPr lang="en-IN" sz="1100" dirty="0">
                        <a:effectLst/>
                      </a:endParaRP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US" sz="1100" dirty="0" err="1">
                          <a:effectLst/>
                        </a:rPr>
                        <a:t>sim_name_username_Full</a:t>
                      </a:r>
                      <a:r>
                        <a:rPr lang="en-US" sz="1100" dirty="0">
                          <a:effectLst/>
                        </a:rPr>
                        <a:t> match</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pt-BR" sz="1100">
                          <a:effectLst/>
                        </a:rPr>
                        <a:t>sim_name_username_No match</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sim_name_username_Partial match</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fake_pred_proba</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fake_pred</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72613406"/>
                  </a:ext>
                </a:extLst>
              </a:tr>
              <a:tr h="191712">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0.33</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0.33</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30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35</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488.00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604</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54461702"/>
                  </a:ext>
                </a:extLst>
              </a:tr>
              <a:tr h="191712">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a:effectLst/>
                        </a:rPr>
                        <a:t>0.22</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2</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63</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46</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464.00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367</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0.22</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8953792"/>
                  </a:ext>
                </a:extLst>
              </a:tr>
              <a:tr h="191712">
                <a:tc>
                  <a:txBody>
                    <a:bodyPr/>
                    <a:lstStyle/>
                    <a:p>
                      <a:pPr fontAlgn="t">
                        <a:buNone/>
                      </a:pPr>
                      <a:r>
                        <a:rPr lang="en-IN" sz="1100">
                          <a:effectLst/>
                        </a:rPr>
                        <a:t>2</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2</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22.00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82</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0.98</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2347286"/>
                  </a:ext>
                </a:extLst>
              </a:tr>
              <a:tr h="191712">
                <a:tc>
                  <a:txBody>
                    <a:bodyPr/>
                    <a:lstStyle/>
                    <a:p>
                      <a:pPr fontAlgn="t">
                        <a:buNone/>
                      </a:pPr>
                      <a:r>
                        <a:rPr lang="en-IN" sz="1100">
                          <a:effectLst/>
                        </a:rPr>
                        <a:t>3</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0.33</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81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a:effectLst/>
                        </a:rPr>
                        <a:t>75.00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55</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0.63</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9424536"/>
                  </a:ext>
                </a:extLst>
              </a:tr>
              <a:tr h="336085">
                <a:tc>
                  <a:txBody>
                    <a:bodyPr/>
                    <a:lstStyle/>
                    <a:p>
                      <a:pPr fontAlgn="t">
                        <a:buNone/>
                      </a:pPr>
                      <a:r>
                        <a:rPr lang="en-IN" sz="1100">
                          <a:effectLst/>
                        </a:rPr>
                        <a:t>4</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137</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1065</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155537.00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1395</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8367415"/>
                  </a:ext>
                </a:extLst>
              </a:tr>
              <a:tr h="191712">
                <a:tc>
                  <a:txBody>
                    <a:bodyPr/>
                    <a:lstStyle/>
                    <a:p>
                      <a:pPr fontAlgn="t">
                        <a:buNone/>
                      </a:pPr>
                      <a:r>
                        <a:rPr lang="en-IN" sz="1100" dirty="0">
                          <a:effectLst/>
                        </a:rPr>
                        <a:t>5</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0.27</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45.00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64</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0.71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6697171"/>
                  </a:ext>
                </a:extLst>
              </a:tr>
              <a:tr h="191712">
                <a:tc>
                  <a:txBody>
                    <a:bodyPr/>
                    <a:lstStyle/>
                    <a:p>
                      <a:pPr fontAlgn="t">
                        <a:buNone/>
                      </a:pPr>
                      <a:r>
                        <a:rPr lang="en-IN" sz="1100">
                          <a:effectLst/>
                        </a:rPr>
                        <a:t>6</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0.44</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0.44</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112</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4</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415.00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1445</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a:effectLst/>
                        </a:rPr>
                        <a:t>1.00</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fontAlgn="t">
                        <a:buNone/>
                      </a:pPr>
                      <a:r>
                        <a:rPr lang="en-IN" sz="1100" dirty="0">
                          <a:effectLst/>
                        </a:rPr>
                        <a:t>1</a:t>
                      </a:r>
                    </a:p>
                  </a:txBody>
                  <a:tcPr marL="54967" marR="54967" marT="27484" marB="274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73023100"/>
                  </a:ext>
                </a:extLst>
              </a:tr>
            </a:tbl>
          </a:graphicData>
        </a:graphic>
      </p:graphicFrame>
    </p:spTree>
    <p:extLst>
      <p:ext uri="{BB962C8B-B14F-4D97-AF65-F5344CB8AC3E}">
        <p14:creationId xmlns:p14="http://schemas.microsoft.com/office/powerpoint/2010/main" val="1558424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7144</TotalTime>
  <Words>2649</Words>
  <Application>Microsoft Office PowerPoint</Application>
  <PresentationFormat>Widescreen</PresentationFormat>
  <Paragraphs>326</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Inter</vt:lpstr>
      <vt:lpstr>Wingdings</vt:lpstr>
      <vt:lpstr>BIA Template</vt:lpstr>
      <vt:lpstr>PowerPoint Presentation</vt:lpstr>
      <vt:lpstr>PowerPoint Presentation</vt:lpstr>
      <vt:lpstr>PowerPoint Presentation</vt:lpstr>
      <vt:lpstr>Scenario</vt:lpstr>
      <vt:lpstr>GOAL</vt:lpstr>
      <vt:lpstr>GATHER DATA</vt:lpstr>
      <vt:lpstr>Exploratory Data Analysis (EDA)</vt:lpstr>
      <vt:lpstr>Exploratory Data Analysis (EDA)</vt:lpstr>
      <vt:lpstr>Exploratory Data Analysis (EDA)</vt:lpstr>
      <vt:lpstr>Exploratory Data Analysis (EDA)</vt:lpstr>
      <vt:lpstr>Logistic Regression</vt:lpstr>
      <vt:lpstr>Logistic Regression With And Without Regularization</vt:lpstr>
      <vt:lpstr>Model Performance Evaluation</vt:lpstr>
      <vt:lpstr>ROC (Receiver Operating Characteristic)</vt:lpstr>
      <vt:lpstr>PowerPoint Presentation</vt:lpstr>
      <vt:lpstr>ROC (Receiver Operating Characteristic)</vt:lpstr>
      <vt:lpstr>ROC (Receiver Operating Characteristic)</vt:lpstr>
      <vt:lpstr>ROC (Receiver Operating Characteristic)</vt:lpstr>
      <vt:lpstr>ROC AUC Measure</vt:lpstr>
      <vt:lpstr>ROC AUC Measure</vt:lpstr>
      <vt:lpstr>Find The Best Logistic Regression Model With Grid Search and ROC-AUC</vt:lpstr>
      <vt:lpstr>Find The Best Logistic Regression Model With Grid Search and ROC-AUC</vt:lpstr>
      <vt:lpstr>Model Evaluation With Test Data</vt:lpstr>
      <vt:lpstr>Prediction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Ashish Thakur</cp:lastModifiedBy>
  <cp:revision>2257</cp:revision>
  <dcterms:created xsi:type="dcterms:W3CDTF">2020-12-23T13:36:00Z</dcterms:created>
  <dcterms:modified xsi:type="dcterms:W3CDTF">2025-11-17T18:21:35Z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